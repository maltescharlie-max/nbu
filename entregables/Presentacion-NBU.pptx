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77a1960d684720" /><Relationship Type="http://schemas.openxmlformats.org/officeDocument/2006/relationships/extended-properties" Target="/docProps/app.xml" Id="Rb6c6200f2c654f0d" /><Relationship Type="http://schemas.openxmlformats.org/officeDocument/2006/relationships/officeDocument" Target="/ppt/presentation.xml" Id="Rea69afd0d9774b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a8d73e3e10474f"/>
  </p:sldMasterIdLst>
  <p:notesMasterIdLst>
    <p:notesMasterId xmlns:r="http://schemas.openxmlformats.org/officeDocument/2006/relationships" r:id="R1296260048054a93"/>
  </p:notesMasterIdLst>
  <p:sldIdLst>
    <p:sldId xmlns:r="http://schemas.openxmlformats.org/officeDocument/2006/relationships" id="256" r:id="R71070ee779ce4a83"/>
    <p:sldId xmlns:r="http://schemas.openxmlformats.org/officeDocument/2006/relationships" id="257" r:id="Ra6d3423173c34aa5"/>
    <p:sldId xmlns:r="http://schemas.openxmlformats.org/officeDocument/2006/relationships" id="258" r:id="R1003b14b45da4644"/>
    <p:sldId xmlns:r="http://schemas.openxmlformats.org/officeDocument/2006/relationships" id="259" r:id="R0d3a882aa91b4e1e"/>
    <p:sldId xmlns:r="http://schemas.openxmlformats.org/officeDocument/2006/relationships" id="260" r:id="R8a8cdda21e364a55"/>
    <p:sldId xmlns:r="http://schemas.openxmlformats.org/officeDocument/2006/relationships" id="261" r:id="Rf0b5d6df71a14436"/>
    <p:sldId xmlns:r="http://schemas.openxmlformats.org/officeDocument/2006/relationships" id="262" r:id="R15c03f813b574693"/>
    <p:sldId xmlns:r="http://schemas.openxmlformats.org/officeDocument/2006/relationships" id="263" r:id="R95d50576f53c42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fc7969fd8d4b2d" /><Relationship Type="http://schemas.openxmlformats.org/officeDocument/2006/relationships/slideMaster" Target="/ppt/slideMasters/slideMaster1.xml" Id="R68a8d73e3e10474f" /><Relationship Type="http://schemas.openxmlformats.org/officeDocument/2006/relationships/notesMaster" Target="/ppt/notesMasters/notesMaster1.xml" Id="R1296260048054a93" /><Relationship Type="http://schemas.openxmlformats.org/officeDocument/2006/relationships/presProps" Target="/ppt/presProps.xml" Id="R2ea8bdaf0a9e4f71" /><Relationship Type="http://schemas.openxmlformats.org/officeDocument/2006/relationships/tableStyles" Target="/ppt/tableStyles.xml" Id="R104feae864ae402e" /><Relationship Type="http://schemas.openxmlformats.org/officeDocument/2006/relationships/slide" Target="/ppt/slides/slide1.xml" Id="R71070ee779ce4a83" /><Relationship Type="http://schemas.openxmlformats.org/officeDocument/2006/relationships/slide" Target="/ppt/slides/slide2.xml" Id="Ra6d3423173c34aa5" /><Relationship Type="http://schemas.openxmlformats.org/officeDocument/2006/relationships/slide" Target="/ppt/slides/slide3.xml" Id="R1003b14b45da4644" /><Relationship Type="http://schemas.openxmlformats.org/officeDocument/2006/relationships/slide" Target="/ppt/slides/slide4.xml" Id="R0d3a882aa91b4e1e" /><Relationship Type="http://schemas.openxmlformats.org/officeDocument/2006/relationships/slide" Target="/ppt/slides/slide5.xml" Id="R8a8cdda21e364a55" /><Relationship Type="http://schemas.openxmlformats.org/officeDocument/2006/relationships/slide" Target="/ppt/slides/slide6.xml" Id="Rf0b5d6df71a14436" /><Relationship Type="http://schemas.openxmlformats.org/officeDocument/2006/relationships/slide" Target="/ppt/slides/slide7.xml" Id="R15c03f813b574693" /><Relationship Type="http://schemas.openxmlformats.org/officeDocument/2006/relationships/slide" Target="/ppt/slides/slide8.xml" Id="R95d50576f53c42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ecadaa2d9143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e249d92a974e13" /><Relationship Type="http://schemas.openxmlformats.org/officeDocument/2006/relationships/notesMaster" Target="/ppt/notesMasters/notesMaster1.xml" Id="R874510c8543345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6ca36a943a449a" /><Relationship Type="http://schemas.openxmlformats.org/officeDocument/2006/relationships/notesMaster" Target="/ppt/notesMasters/notesMaster1.xml" Id="R646b65fb6a9f4c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2dbd5082a94c97" /><Relationship Type="http://schemas.openxmlformats.org/officeDocument/2006/relationships/notesMaster" Target="/ppt/notesMasters/notesMaster1.xml" Id="R6d3bf4c2f4704f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a402df600a4df9" /><Relationship Type="http://schemas.openxmlformats.org/officeDocument/2006/relationships/notesMaster" Target="/ppt/notesMasters/notesMaster1.xml" Id="R19c92a60fa3944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5fb50e56a14d5b" /><Relationship Type="http://schemas.openxmlformats.org/officeDocument/2006/relationships/notesMaster" Target="/ppt/notesMasters/notesMaster1.xml" Id="R05771a6a42984b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c618c41ffa49bb" /><Relationship Type="http://schemas.openxmlformats.org/officeDocument/2006/relationships/notesMaster" Target="/ppt/notesMasters/notesMaster1.xml" Id="R546ebb6940384d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78b0e9708f45de" /><Relationship Type="http://schemas.openxmlformats.org/officeDocument/2006/relationships/notesMaster" Target="/ppt/notesMasters/notesMaster1.xml" Id="R5d74b53bce3940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cb7be38e6e49db" /><Relationship Type="http://schemas.openxmlformats.org/officeDocument/2006/relationships/notesMaster" Target="/ppt/notesMasters/notesMaster1.xml" Id="R25c2f126a60e4d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Presentamos NBU, Nicaragua Becas Universitarias. El proyecto reúne la administración de becas con la información que consulta cada estudiante.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inscripción comienza en el sitio web desde cualquier computadora o celular con acceso al servidor. La nueva cuenta queda pendiente; el personal decide si la acepta o la rechaza con un motivo.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NBU tiene un proyecto de datos compartido. ASP.NET Core MVC y Windows Forms trabajan contra SQL Server mediante Entity Framework Core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Los cuatro módulos corresponden al alcance acordado en la ficha del proyecto. En el portal también se manejan las solicitudes y los avisos vinculados a esas funciones.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portal del estudiante funciona en un navegador móvil. Cada persona consulta solo sus solicitudes, depósitos registrados y avisos.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Los cuatro módulos tienen las operaciones CRUD. Las solicitudes de registro están en una bandeja separada de la lista de estudiantes activos y se aceptan o rechazan con un motivo.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aplicación muestra depósitos registrados manualmente después de una operación externa. La opción bancaria solo comunica que no está habilitada; el proyecto no procesa fondos.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Cerramos con los entregables del proyecto y el equipo INS-1111. La ficha indica la fecha de entrega como pendiente de confirmación con el docente.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85dbe60ae94e7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7922d392d8414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f785c7cab04fa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01ef7b2c6a468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becfc8607f4a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c6b041b2944b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D93AF44-A351-46BB-9E11-D78AE32C9C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F3F9328-4BBC-49DC-BE0F-1CBEF3C252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4508C61-ADC7-4886-B0A5-9D26C07710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88CC1D-EAC8-4E45-94CC-729FAE66E3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F408659-E23E-49A8-BE3D-C083EA1036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F2414D1-C493-4C50-9493-211FD7F38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F045F06-F08E-413A-9D70-11CC786FEF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66895B9-BD1E-4E5B-8418-FC7D9967D3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C59536-6BF0-4C41-902B-CAFB6BF0F7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86A2825-868F-4CEB-9357-2F08281EC0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34a975acf643fb" /><Relationship Type="http://schemas.openxmlformats.org/officeDocument/2006/relationships/slideLayout" Target="/ppt/slideLayouts/slideLayout1.xml" Id="R924553cd92b74393" /><Relationship Type="http://schemas.openxmlformats.org/officeDocument/2006/relationships/slideLayout" Target="/ppt/slideLayouts/slideLayout2.xml" Id="Rd3c2b0ec04824489" /><Relationship Type="http://schemas.openxmlformats.org/officeDocument/2006/relationships/slideLayout" Target="/ppt/slideLayouts/slideLayout3.xml" Id="Rafdac5a60d084bb1" /><Relationship Type="http://schemas.openxmlformats.org/officeDocument/2006/relationships/slideLayout" Target="/ppt/slideLayouts/slideLayout4.xml" Id="R57aa81fc0a2c480e" /><Relationship Type="http://schemas.openxmlformats.org/officeDocument/2006/relationships/slideLayout" Target="/ppt/slideLayouts/slideLayout5.xml" Id="R3f4ecbabe4a84923" /><Relationship Type="http://schemas.openxmlformats.org/officeDocument/2006/relationships/slideLayout" Target="/ppt/slideLayouts/slideLayout6.xml" Id="Rf54ff25aea134c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4553cd92b74393"/>
    <p:sldLayoutId xmlns:r="http://schemas.openxmlformats.org/officeDocument/2006/relationships" id="2147483650" r:id="Rd3c2b0ec04824489"/>
    <p:sldLayoutId xmlns:r="http://schemas.openxmlformats.org/officeDocument/2006/relationships" id="2147483651" r:id="Rafdac5a60d084bb1"/>
    <p:sldLayoutId xmlns:r="http://schemas.openxmlformats.org/officeDocument/2006/relationships" id="2147483652" r:id="R57aa81fc0a2c480e"/>
    <p:sldLayoutId xmlns:r="http://schemas.openxmlformats.org/officeDocument/2006/relationships" id="2147483653" r:id="R3f4ecbabe4a84923"/>
    <p:sldLayoutId xmlns:r="http://schemas.openxmlformats.org/officeDocument/2006/relationships" id="2147483654" r:id="Rf54ff25aea134c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d99899b6904fa4" /><Relationship Type="http://schemas.openxmlformats.org/officeDocument/2006/relationships/image" Target="/ppt/media/image.png" Id="R5179d5b9bc3d4372" /><Relationship Type="http://schemas.openxmlformats.org/officeDocument/2006/relationships/notesSlide" Target="/ppt/notesSlides/notesSlide1.xml" Id="R49221ab7a72647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4b71006ccf4099" /><Relationship Type="http://schemas.openxmlformats.org/officeDocument/2006/relationships/image" Target="/ppt/media/image2.png" Id="Rf6dbe3b616294ca2" /><Relationship Type="http://schemas.openxmlformats.org/officeDocument/2006/relationships/notesSlide" Target="/ppt/notesSlides/notesSlide2.xml" Id="R5d73531963d041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c102826ff74345" /><Relationship Type="http://schemas.openxmlformats.org/officeDocument/2006/relationships/image" Target="/ppt/media/image3.png" Id="R13a03c28e7354a1f" /><Relationship Type="http://schemas.openxmlformats.org/officeDocument/2006/relationships/notesSlide" Target="/ppt/notesSlides/notesSlide3.xml" Id="Rc7bb6529b4f046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1bd176c53d4a31" /><Relationship Type="http://schemas.openxmlformats.org/officeDocument/2006/relationships/image" Target="/ppt/media/image4.png" Id="R05d8826266024e64" /><Relationship Type="http://schemas.openxmlformats.org/officeDocument/2006/relationships/notesSlide" Target="/ppt/notesSlides/notesSlide4.xml" Id="Rfc714b7eaea248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3ca890584b4604" /><Relationship Type="http://schemas.openxmlformats.org/officeDocument/2006/relationships/image" Target="/ppt/media/image5.png" Id="R36a851a68ae74a07" /><Relationship Type="http://schemas.openxmlformats.org/officeDocument/2006/relationships/image" Target="/ppt/media/image6.png" Id="Rad5ef0d617d743e4" /><Relationship Type="http://schemas.openxmlformats.org/officeDocument/2006/relationships/notesSlide" Target="/ppt/notesSlides/notesSlide5.xml" Id="R71f325a135794a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48eed2df0b4f18" /><Relationship Type="http://schemas.openxmlformats.org/officeDocument/2006/relationships/image" Target="/ppt/media/image7.png" Id="Rb3a0c78ebab641fb" /><Relationship Type="http://schemas.openxmlformats.org/officeDocument/2006/relationships/notesSlide" Target="/ppt/notesSlides/notesSlide6.xml" Id="Ra885b8a5d79541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b67a9636e146c2" /><Relationship Type="http://schemas.openxmlformats.org/officeDocument/2006/relationships/image" Target="/ppt/media/image8.png" Id="R8308e2a9da5c4186" /><Relationship Type="http://schemas.openxmlformats.org/officeDocument/2006/relationships/notesSlide" Target="/ppt/notesSlides/notesSlide7.xml" Id="R2b352f31320741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43475a3c784356" /><Relationship Type="http://schemas.openxmlformats.org/officeDocument/2006/relationships/image" Target="/ppt/media/image9.png" Id="R11d6b3df0ed44198" /><Relationship Type="http://schemas.openxmlformats.org/officeDocument/2006/relationships/notesSlide" Target="/ppt/notesSlides/notesSlide8.xml" Id="R2164bc2b1a7542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27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-initials">
            <a:extLst xmlns:a="http://schemas.openxmlformats.org/drawingml/2006/main">
              <a:ext uri="{FF2B5EF4-FFF2-40B4-BE49-F238E27FC236}">
                <a16:creationId xmlns:a16="http://schemas.microsoft.com/office/drawing/2014/main" id="{BBC61A97-020C-47BF-AD99-B611DE17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206"/>
          </a:bodyPr>
          <a:lstStyle xmlns:a="http://schemas.openxmlformats.org/drawingml/2006/main">
            <a:def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4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9450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NBU</a:t>
            </a:r>
          </a:p>
        </p:txBody>
      </p:sp>
      <p:sp>
        <p:nvSpPr>
          <p:cNvPr id="2" name="project-name">
            <a:extLst xmlns:a="http://schemas.openxmlformats.org/drawingml/2006/main">
              <a:ext uri="{FF2B5EF4-FFF2-40B4-BE49-F238E27FC236}">
                <a16:creationId xmlns:a16="http://schemas.microsoft.com/office/drawing/2014/main" id="{60D58586-D431-48F7-84CA-98156D1D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7477125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Nicaragua Becas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Universitarias</a:t>
            </a:r>
          </a:p>
        </p:txBody>
      </p:sp>
      <p:sp>
        <p:nvSpPr>
          <p:cNvPr id="3" name="slogan">
            <a:extLst xmlns:a="http://schemas.openxmlformats.org/drawingml/2006/main">
              <a:ext uri="{FF2B5EF4-FFF2-40B4-BE49-F238E27FC236}">
                <a16:creationId xmlns:a16="http://schemas.microsoft.com/office/drawing/2014/main" id="{B63F6FC2-1A71-4AC0-B66F-E6FA2E6C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790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B742"/>
                </a:solidFill>
                <a:latin typeface="Arial"/>
                <a:ea typeface="Arial"/>
                <a:cs typeface="Arial"/>
              </a:rPr>
              <a:t>Tu esfuerzo abre oportunidades</a:t>
            </a:r>
          </a:p>
        </p:txBody>
      </p:sp>
      <p:sp>
        <p:nvSpPr>
          <p:cNvPr id="4" name="program-pair">
            <a:extLst xmlns:a="http://schemas.openxmlformats.org/drawingml/2006/main">
              <a:ext uri="{FF2B5EF4-FFF2-40B4-BE49-F238E27FC236}">
                <a16:creationId xmlns:a16="http://schemas.microsoft.com/office/drawing/2014/main" id="{5EA5E02E-18AC-48B2-B208-E1D485F1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876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ASP.NET Core MVC  +  Windows Forms</a:t>
            </a:r>
          </a:p>
        </p:txBody>
      </p:sp>
      <p:sp>
        <p:nvSpPr>
          <p:cNvPr id="5" name="group">
            <a:extLst xmlns:a="http://schemas.openxmlformats.org/drawingml/2006/main">
              <a:ext uri="{FF2B5EF4-FFF2-40B4-BE49-F238E27FC236}">
                <a16:creationId xmlns:a16="http://schemas.microsoft.com/office/drawing/2014/main" id="{8E3B1703-6CFF-4231-8727-9C4D8744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72125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defPPr>
            <a:lvl1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1pPr>
            <a:lvl2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2pPr>
            <a:lvl3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3pPr>
            <a:lvl4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4pPr>
            <a:lvl5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5pPr>
            <a:lvl6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6pPr>
            <a:lvl7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7pPr>
            <a:lvl8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8pPr>
            <a:lvl9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>
                <a:solidFill>
                  <a:srgbClr val="C9D8E8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C9D8E8"/>
                </a:solidFill>
                <a:latin typeface="Arial"/>
                <a:ea typeface="Arial"/>
                <a:cs typeface="Arial"/>
              </a:rPr>
              <a:t>Grupo INS-1111  ·  Programación Estructurada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823081-348D-41F0-A1D5-4F8DCBC962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79d5b9bc3d4372"/>
          <a:stretch xmlns:a="http://schemas.openxmlformats.org/drawingml/2006/main"/>
        </p:blipFill>
        <p:spPr>
          <a:xfrm xmlns:a="http://schemas.openxmlformats.org/drawingml/2006/main">
            <a:off x="8743950" y="1095375"/>
            <a:ext cx="2095500" cy="2095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6419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C10BD-346C-422A-BFD3-C95A49D7BC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be3b616294ca2"/>
          <a:stretch xmlns:a="http://schemas.openxmlformats.org/drawingml/2006/main"/>
        </p:blipFill>
        <p:spPr>
          <a:xfrm xmlns:a="http://schemas.openxmlformats.org/drawingml/2006/main">
            <a:off x="11096625" y="1714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footer-2">
            <a:extLst xmlns:a="http://schemas.openxmlformats.org/drawingml/2006/main">
              <a:ext uri="{FF2B5EF4-FFF2-40B4-BE49-F238E27FC236}">
                <a16:creationId xmlns:a16="http://schemas.microsoft.com/office/drawing/2014/main" id="{DDAE4F01-5430-4966-845A-8D7BADB6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defPPr>
            <a:lvl1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1pPr>
            <a:lvl2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2pPr>
            <a:lvl3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3pPr>
            <a:lvl4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4pPr>
            <a:lvl5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5pPr>
            <a:lvl6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6pPr>
            <a:lvl7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7pPr>
            <a:lvl8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8pPr>
            <a:lvl9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0748A"/>
                </a:solidFill>
                <a:latin typeface="Arial"/>
                <a:ea typeface="Arial"/>
                <a:cs typeface="Arial"/>
              </a:rPr>
              <a:t>NBU   ·   PROYECTO ACADÉMICO                                      02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4B6C27-8131-476E-981B-9223DC84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Registro desde cualquier lugar</a:t>
            </a:r>
          </a:p>
        </p:txBody>
      </p:sp>
      <p:sp>
        <p:nvSpPr>
          <p:cNvPr id="4" name="intro">
            <a:extLst xmlns:a="http://schemas.openxmlformats.org/drawingml/2006/main">
              <a:ext uri="{FF2B5EF4-FFF2-40B4-BE49-F238E27FC236}">
                <a16:creationId xmlns:a16="http://schemas.microsoft.com/office/drawing/2014/main" id="{994CC1D6-D65F-48C3-BA13-AD4E89F0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1033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82B43"/>
                </a:solidFill>
                <a:latin typeface="Arial"/>
                <a:ea typeface="Arial"/>
                <a:cs typeface="Arial"/>
              </a:rPr>
              <a:t>Una persona puede crear su cuenta desde la página web. Administración revisa los datos antes de activar el acceso</a:t>
            </a:r>
          </a:p>
        </p:txBody>
      </p:sp>
      <p:sp>
        <p:nvSpPr>
          <p:cNvPr id="5" name="student-heading">
            <a:extLst xmlns:a="http://schemas.openxmlformats.org/drawingml/2006/main">
              <a:ext uri="{FF2B5EF4-FFF2-40B4-BE49-F238E27FC236}">
                <a16:creationId xmlns:a16="http://schemas.microsoft.com/office/drawing/2014/main" id="{EBFC014C-093E-41B5-8E50-11777668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67AD"/>
                </a:solidFill>
                <a:latin typeface="Arial"/>
                <a:ea typeface="Arial"/>
                <a:cs typeface="Arial"/>
              </a:rPr>
              <a:t>Estudiante</a:t>
            </a:r>
          </a:p>
        </p:txBody>
      </p:sp>
      <p:sp>
        <p:nvSpPr>
          <p:cNvPr id="6" name="student-copy">
            <a:extLst xmlns:a="http://schemas.openxmlformats.org/drawingml/2006/main">
              <a:ext uri="{FF2B5EF4-FFF2-40B4-BE49-F238E27FC236}">
                <a16:creationId xmlns:a16="http://schemas.microsoft.com/office/drawing/2014/main" id="{06C76AE0-9387-48FE-9043-32C6E955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4810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82B43"/>
                </a:solidFill>
                <a:latin typeface="Arial"/>
                <a:ea typeface="Arial"/>
                <a:cs typeface="Arial"/>
              </a:rPr>
              <a:t>Completa sus datos en línea.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82B43"/>
                </a:solidFill>
                <a:latin typeface="Arial"/>
                <a:ea typeface="Arial"/>
                <a:cs typeface="Arial"/>
              </a:rPr>
              <a:t>Comparte un código de recomendación si desea.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82B43"/>
                </a:solidFill>
                <a:latin typeface="Arial"/>
                <a:ea typeface="Arial"/>
                <a:cs typeface="Arial"/>
              </a:rPr>
              <a:t>Espera la revisión antes de iniciar sesión.</a:t>
            </a:r>
          </a:p>
        </p:txBody>
      </p:sp>
      <p:sp>
        <p:nvSpPr>
          <p:cNvPr id="7" name="staff-heading">
            <a:extLst xmlns:a="http://schemas.openxmlformats.org/drawingml/2006/main">
              <a:ext uri="{FF2B5EF4-FFF2-40B4-BE49-F238E27FC236}">
                <a16:creationId xmlns:a16="http://schemas.microsoft.com/office/drawing/2014/main" id="{02E5E442-6363-42C0-82F0-07509712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908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Personal NBU</a:t>
            </a:r>
          </a:p>
        </p:txBody>
      </p:sp>
      <p:sp>
        <p:nvSpPr>
          <p:cNvPr id="8" name="staff-copy">
            <a:extLst xmlns:a="http://schemas.openxmlformats.org/drawingml/2006/main">
              <a:ext uri="{FF2B5EF4-FFF2-40B4-BE49-F238E27FC236}">
                <a16:creationId xmlns:a16="http://schemas.microsoft.com/office/drawing/2014/main" id="{D5B0766E-A4F4-4D19-98F5-B25C081D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28975"/>
            <a:ext cx="5000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82B43"/>
                </a:solidFill>
                <a:latin typeface="Arial"/>
                <a:ea typeface="Arial"/>
                <a:cs typeface="Arial"/>
              </a:rPr>
              <a:t>Abre Registros pendientes.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82B43"/>
                </a:solidFill>
                <a:latin typeface="Arial"/>
                <a:ea typeface="Arial"/>
                <a:cs typeface="Arial"/>
              </a:rPr>
              <a:t>Acepta o rechaza con motivo.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82B43"/>
                </a:solidFill>
                <a:latin typeface="Arial"/>
                <a:ea typeface="Arial"/>
                <a:cs typeface="Arial"/>
              </a:rPr>
              <a:t>La persona puede corregir y reenviar.</a:t>
            </a:r>
          </a:p>
        </p:txBody>
      </p:sp>
      <p:sp>
        <p:nvSpPr>
          <p:cNvPr id="9" name="objective">
            <a:extLst xmlns:a="http://schemas.openxmlformats.org/drawingml/2006/main">
              <a:ext uri="{FF2B5EF4-FFF2-40B4-BE49-F238E27FC236}">
                <a16:creationId xmlns:a16="http://schemas.microsoft.com/office/drawing/2014/main" id="{383FB6E6-5B8E-45BE-8DD2-5C0FC4E4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Así el estudiante no necesita viajar para que le creen la cuenta.</a:t>
            </a:r>
          </a:p>
        </p:txBody>
      </p:sp>
    </p:spTree>
    <p:extLst>
      <p:ext uri="{BB962C8B-B14F-4D97-AF65-F5344CB8AC3E}">
        <p14:creationId xmlns:p14="http://schemas.microsoft.com/office/powerpoint/2010/main" val="3266059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7D407E-E2F3-4927-A706-8CC89B046C78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391400" y="3609975"/>
            <a:ext cx="1266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92754"/>
            </a:solidFill>
            <a:prstDash val="solid"/>
            <a:tailEnd type="triangle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EE6C36-3C0D-4865-84A1-9953347B0F6F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3276600" y="3609975"/>
            <a:ext cx="1381125" cy="8382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0B6C3"/>
            </a:solidFill>
            <a:prstDash val="solid"/>
            <a:tailEnd type="triangle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AACFC1-DC3F-4D6D-9201-2554A9A093BA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276600" y="2733675"/>
            <a:ext cx="1381125" cy="8763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1267AD"/>
            </a:solidFill>
            <a:prstDash val="solid"/>
            <a:tailEnd type="triangle" w="med" len="med"/>
          </a:ln>
        </p:spPr>
      </p:cxn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5190DD-B470-4ED1-BB8C-E558763C47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a03c28e7354a1f"/>
          <a:stretch xmlns:a="http://schemas.openxmlformats.org/drawingml/2006/main"/>
        </p:blipFill>
        <p:spPr>
          <a:xfrm xmlns:a="http://schemas.openxmlformats.org/drawingml/2006/main">
            <a:off x="11096625" y="1714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footer-3">
            <a:extLst xmlns:a="http://schemas.openxmlformats.org/drawingml/2006/main">
              <a:ext uri="{FF2B5EF4-FFF2-40B4-BE49-F238E27FC236}">
                <a16:creationId xmlns:a16="http://schemas.microsoft.com/office/drawing/2014/main" id="{D5477BD0-C2E9-49D2-B743-779F9874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defPPr>
            <a:lvl1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1pPr>
            <a:lvl2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2pPr>
            <a:lvl3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3pPr>
            <a:lvl4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4pPr>
            <a:lvl5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5pPr>
            <a:lvl6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6pPr>
            <a:lvl7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7pPr>
            <a:lvl8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8pPr>
            <a:lvl9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0748A"/>
                </a:solidFill>
                <a:latin typeface="Arial"/>
                <a:ea typeface="Arial"/>
                <a:cs typeface="Arial"/>
              </a:rPr>
              <a:t>NBU   ·   PROYECTO ACADÉMICO                                      03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210ECC-0AE6-4B71-85CC-ABD03B4A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Dos aplicaciones, una base compartida</a:t>
            </a:r>
          </a:p>
        </p:txBody>
      </p:sp>
      <p:sp>
        <p:nvSpPr>
          <p:cNvPr id="4" name="architecture-subtitle">
            <a:extLst xmlns:a="http://schemas.openxmlformats.org/drawingml/2006/main">
              <a:ext uri="{FF2B5EF4-FFF2-40B4-BE49-F238E27FC236}">
                <a16:creationId xmlns:a16="http://schemas.microsoft.com/office/drawing/2014/main" id="{FE413B68-465E-4534-BE3B-1B1478DA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defPPr>
            <a:lvl1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1pPr>
            <a:lvl2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2pPr>
            <a:lvl3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3pPr>
            <a:lvl4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4pPr>
            <a:lvl5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5pPr>
            <a:lvl6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6pPr>
            <a:lvl7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7pPr>
            <a:lvl8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8pPr>
            <a:lvl9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>
                <a:solidFill>
                  <a:srgbClr val="60748A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60748A"/>
                </a:solidFill>
                <a:latin typeface="Arial"/>
                <a:ea typeface="Arial"/>
                <a:cs typeface="Arial"/>
              </a:rPr>
              <a:t>Web y escritorio usan la misma base SQL Server, llamada NBU en la instancia local SQLEXPRESS22</a:t>
            </a:r>
          </a:p>
        </p:txBody>
      </p:sp>
      <p:sp>
        <p:nvSpPr>
          <p:cNvPr id="5" name="web-app">
            <a:extLst xmlns:a="http://schemas.openxmlformats.org/drawingml/2006/main">
              <a:ext uri="{FF2B5EF4-FFF2-40B4-BE49-F238E27FC236}">
                <a16:creationId xmlns:a16="http://schemas.microsoft.com/office/drawing/2014/main" id="{86147BD3-6932-4240-A5DE-48CF9E7A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257175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1267AD"/>
          </a:solidFill>
          <a:ln xmlns:a="http://schemas.openxmlformats.org/drawingml/2006/main" w="9525">
            <a:solidFill>
              <a:srgbClr val="1267AD"/>
            </a:solidFill>
            <a:prstDash val="solid"/>
          </a:ln>
        </p:spPr>
      </p:sp>
      <p:sp>
        <p:nvSpPr>
          <p:cNvPr id="6" name="web-app-label">
            <a:extLst xmlns:a="http://schemas.openxmlformats.org/drawingml/2006/main">
              <a:ext uri="{FF2B5EF4-FFF2-40B4-BE49-F238E27FC236}">
                <a16:creationId xmlns:a16="http://schemas.microsoft.com/office/drawing/2014/main" id="{D1E5E76A-E5B1-451E-B163-402742E3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2152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Portal web</a:t>
            </a:r>
          </a:p>
        </p:txBody>
      </p:sp>
      <p:sp>
        <p:nvSpPr>
          <p:cNvPr id="7" name="web-app-description">
            <a:extLst xmlns:a="http://schemas.openxmlformats.org/drawingml/2006/main">
              <a:ext uri="{FF2B5EF4-FFF2-40B4-BE49-F238E27FC236}">
                <a16:creationId xmlns:a16="http://schemas.microsoft.com/office/drawing/2014/main" id="{BA3A9572-F070-4717-9633-46C5548B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33675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ASP.NET Core MVC</a:t>
            </a:r>
          </a:p>
        </p:txBody>
      </p:sp>
      <p:sp>
        <p:nvSpPr>
          <p:cNvPr id="8" name="desktop-app">
            <a:extLst xmlns:a="http://schemas.openxmlformats.org/drawingml/2006/main">
              <a:ext uri="{FF2B5EF4-FFF2-40B4-BE49-F238E27FC236}">
                <a16:creationId xmlns:a16="http://schemas.microsoft.com/office/drawing/2014/main" id="{438BB9D6-7DD4-449B-B9AE-57319023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48100"/>
            <a:ext cx="257175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20B6C3"/>
          </a:solidFill>
          <a:ln xmlns:a="http://schemas.openxmlformats.org/drawingml/2006/main" w="9525">
            <a:solidFill>
              <a:srgbClr val="20B6C3"/>
            </a:solidFill>
            <a:prstDash val="solid"/>
          </a:ln>
        </p:spPr>
      </p:sp>
      <p:sp>
        <p:nvSpPr>
          <p:cNvPr id="9" name="desktop-app-label">
            <a:extLst xmlns:a="http://schemas.openxmlformats.org/drawingml/2006/main">
              <a:ext uri="{FF2B5EF4-FFF2-40B4-BE49-F238E27FC236}">
                <a16:creationId xmlns:a16="http://schemas.microsoft.com/office/drawing/2014/main" id="{4414D5EF-CF69-42D3-82FA-01A29D0A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29075"/>
            <a:ext cx="2152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Escritorio</a:t>
            </a:r>
          </a:p>
        </p:txBody>
      </p:sp>
      <p:sp>
        <p:nvSpPr>
          <p:cNvPr id="10" name="desktop-app-description">
            <a:extLst xmlns:a="http://schemas.openxmlformats.org/drawingml/2006/main">
              <a:ext uri="{FF2B5EF4-FFF2-40B4-BE49-F238E27FC236}">
                <a16:creationId xmlns:a16="http://schemas.microsoft.com/office/drawing/2014/main" id="{622E936D-38A2-452A-B2F1-74FBAEEE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48175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092754"/>
                </a:solidFill>
                <a:latin typeface="Arial"/>
                <a:ea typeface="Arial"/>
                <a:cs typeface="Arial"/>
              </a:rPr>
              <a:t>Windows Forms</a:t>
            </a:r>
          </a:p>
        </p:txBody>
      </p:sp>
      <p:sp>
        <p:nvSpPr>
          <p:cNvPr id="11" name="shared-data">
            <a:extLst xmlns:a="http://schemas.openxmlformats.org/drawingml/2006/main">
              <a:ext uri="{FF2B5EF4-FFF2-40B4-BE49-F238E27FC236}">
                <a16:creationId xmlns:a16="http://schemas.microsoft.com/office/drawing/2014/main" id="{2F135680-2177-4060-B20B-EBDE127F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09900"/>
            <a:ext cx="2733675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F3F7FB"/>
          </a:solidFill>
          <a:ln xmlns:a="http://schemas.openxmlformats.org/drawingml/2006/main" w="9525">
            <a:solidFill>
              <a:srgbClr val="F3F7FB"/>
            </a:solidFill>
            <a:prstDash val="solid"/>
          </a:ln>
        </p:spPr>
      </p:sp>
      <p:sp>
        <p:nvSpPr>
          <p:cNvPr id="12" name="shared-data-label">
            <a:extLst xmlns:a="http://schemas.openxmlformats.org/drawingml/2006/main">
              <a:ext uri="{FF2B5EF4-FFF2-40B4-BE49-F238E27FC236}">
                <a16:creationId xmlns:a16="http://schemas.microsoft.com/office/drawing/2014/main" id="{C0F3AAC9-A78D-4A5E-8AB0-B356D678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190875"/>
            <a:ext cx="23145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NBU.Data</a:t>
            </a:r>
          </a:p>
        </p:txBody>
      </p:sp>
      <p:sp>
        <p:nvSpPr>
          <p:cNvPr id="13" name="shared-data-description">
            <a:extLst xmlns:a="http://schemas.openxmlformats.org/drawingml/2006/main">
              <a:ext uri="{FF2B5EF4-FFF2-40B4-BE49-F238E27FC236}">
                <a16:creationId xmlns:a16="http://schemas.microsoft.com/office/drawing/2014/main" id="{9236178C-74B1-4837-83E3-7CA91F5E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609975"/>
            <a:ext cx="23145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82B43"/>
                </a:solidFill>
                <a:latin typeface="Arial"/>
                <a:ea typeface="Arial"/>
                <a:cs typeface="Arial"/>
              </a:rPr>
              <a:t>Entity Framework Core 8</a:t>
            </a:r>
          </a:p>
        </p:txBody>
      </p:sp>
      <p:sp>
        <p:nvSpPr>
          <p:cNvPr id="14" name="sql-server">
            <a:extLst xmlns:a="http://schemas.openxmlformats.org/drawingml/2006/main">
              <a:ext uri="{FF2B5EF4-FFF2-40B4-BE49-F238E27FC236}">
                <a16:creationId xmlns:a16="http://schemas.microsoft.com/office/drawing/2014/main" id="{4E654373-B3CA-4B9E-AAF0-9E583523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009900"/>
            <a:ext cx="2733675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092754"/>
          </a:solidFill>
          <a:ln xmlns:a="http://schemas.openxmlformats.org/drawingml/2006/main" w="9525">
            <a:solidFill>
              <a:srgbClr val="092754"/>
            </a:solidFill>
            <a:prstDash val="solid"/>
          </a:ln>
        </p:spPr>
      </p:sp>
      <p:sp>
        <p:nvSpPr>
          <p:cNvPr id="15" name="sql-server-label">
            <a:extLst xmlns:a="http://schemas.openxmlformats.org/drawingml/2006/main">
              <a:ext uri="{FF2B5EF4-FFF2-40B4-BE49-F238E27FC236}">
                <a16:creationId xmlns:a16="http://schemas.microsoft.com/office/drawing/2014/main" id="{11E4CD4E-260F-4F70-969C-2EB041EB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90875"/>
            <a:ext cx="23145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SQL Server</a:t>
            </a:r>
          </a:p>
        </p:txBody>
      </p:sp>
      <p:sp>
        <p:nvSpPr>
          <p:cNvPr id="16" name="sql-server-description">
            <a:extLst xmlns:a="http://schemas.openxmlformats.org/drawingml/2006/main">
              <a:ext uri="{FF2B5EF4-FFF2-40B4-BE49-F238E27FC236}">
                <a16:creationId xmlns:a16="http://schemas.microsoft.com/office/drawing/2014/main" id="{5AB707D3-1906-4E0E-881D-D0F7911F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609975"/>
            <a:ext cx="23145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defPPr>
            <a:lvl1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1pPr>
            <a:lvl2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2pPr>
            <a:lvl3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3pPr>
            <a:lvl4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4pPr>
            <a:lvl5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5pPr>
            <a:lvl6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6pPr>
            <a:lvl7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7pPr>
            <a:lvl8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8pPr>
            <a:lvl9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>
                <a:solidFill>
                  <a:srgbClr val="DCE8F5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DCE8F5"/>
                </a:solidFill>
                <a:latin typeface="Arial"/>
                <a:ea typeface="Arial"/>
                <a:cs typeface="Arial"/>
              </a:rPr>
              <a:t>Base NBU · SQLEXPRESS22</a:t>
            </a:r>
          </a:p>
        </p:txBody>
      </p:sp>
      <p:sp>
        <p:nvSpPr>
          <p:cNvPr id="20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4886A2B5-8405-4FF8-B27E-4B3A0114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14975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defPPr>
            <a:lvl1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60748A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60748A"/>
                </a:solidFill>
                <a:latin typeface="Arial"/>
                <a:ea typeface="Arial"/>
                <a:cs typeface="Arial"/>
              </a:rPr>
              <a:t>Modelo–Vista–Controlador en la web · Formularios y lógica CRUD en escritorio</a:t>
            </a:r>
          </a:p>
        </p:txBody>
      </p:sp>
    </p:spTree>
    <p:extLst>
      <p:ext uri="{BB962C8B-B14F-4D97-AF65-F5344CB8AC3E}">
        <p14:creationId xmlns:p14="http://schemas.microsoft.com/office/powerpoint/2010/main" val="92110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B68304-5F8D-4BF7-B7F9-7162413B93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8826266024e64"/>
          <a:stretch xmlns:a="http://schemas.openxmlformats.org/drawingml/2006/main"/>
        </p:blipFill>
        <p:spPr>
          <a:xfrm xmlns:a="http://schemas.openxmlformats.org/drawingml/2006/main">
            <a:off x="11096625" y="1714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footer-4">
            <a:extLst xmlns:a="http://schemas.openxmlformats.org/drawingml/2006/main">
              <a:ext uri="{FF2B5EF4-FFF2-40B4-BE49-F238E27FC236}">
                <a16:creationId xmlns:a16="http://schemas.microsoft.com/office/drawing/2014/main" id="{FEC0801E-1F60-4B40-869C-A8B66AD0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defPPr>
            <a:lvl1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1pPr>
            <a:lvl2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2pPr>
            <a:lvl3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3pPr>
            <a:lvl4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4pPr>
            <a:lvl5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5pPr>
            <a:lvl6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6pPr>
            <a:lvl7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7pPr>
            <a:lvl8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8pPr>
            <a:lvl9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0748A"/>
                </a:solidFill>
                <a:latin typeface="Arial"/>
                <a:ea typeface="Arial"/>
                <a:cs typeface="Arial"/>
              </a:rPr>
              <a:t>NBU   ·   PROYECTO ACADÉMICO                                      04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431CBD-F1E0-474E-A4CE-1C0923A9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Cuatro módulos funcionales</a:t>
            </a:r>
          </a:p>
        </p:txBody>
      </p:sp>
      <p:sp>
        <p:nvSpPr>
          <p:cNvPr id="4" name="module-01-number">
            <a:extLst xmlns:a="http://schemas.openxmlformats.org/drawingml/2006/main">
              <a:ext uri="{FF2B5EF4-FFF2-40B4-BE49-F238E27FC236}">
                <a16:creationId xmlns:a16="http://schemas.microsoft.com/office/drawing/2014/main" id="{1BD23983-A842-436C-AFFE-228FAD4F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819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module-01-name">
            <a:extLst xmlns:a="http://schemas.openxmlformats.org/drawingml/2006/main">
              <a:ext uri="{FF2B5EF4-FFF2-40B4-BE49-F238E27FC236}">
                <a16:creationId xmlns:a16="http://schemas.microsoft.com/office/drawing/2014/main" id="{9F71CF8D-558E-41AB-B3C0-3AB495D9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Estudiantes</a:t>
            </a:r>
          </a:p>
        </p:txBody>
      </p:sp>
      <p:sp>
        <p:nvSpPr>
          <p:cNvPr id="6" name="module-01-description">
            <a:extLst xmlns:a="http://schemas.openxmlformats.org/drawingml/2006/main">
              <a:ext uri="{FF2B5EF4-FFF2-40B4-BE49-F238E27FC236}">
                <a16:creationId xmlns:a16="http://schemas.microsoft.com/office/drawing/2014/main" id="{5EF469B4-6313-4D32-BF7A-321F4833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67000"/>
            <a:ext cx="4238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82B43"/>
                </a:solidFill>
                <a:latin typeface="Arial"/>
                <a:ea typeface="Arial"/>
                <a:cs typeface="Arial"/>
              </a:rPr>
              <a:t>Registro y consulta de beneficiarios.</a:t>
            </a:r>
          </a:p>
        </p:txBody>
      </p:sp>
      <p:sp>
        <p:nvSpPr>
          <p:cNvPr id="7" name="module-02-number">
            <a:extLst xmlns:a="http://schemas.openxmlformats.org/drawingml/2006/main">
              <a:ext uri="{FF2B5EF4-FFF2-40B4-BE49-F238E27FC236}">
                <a16:creationId xmlns:a16="http://schemas.microsoft.com/office/drawing/2014/main" id="{1C87AAE0-F830-49ED-AFED-2B9C546F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819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module-02-name">
            <a:extLst xmlns:a="http://schemas.openxmlformats.org/drawingml/2006/main">
              <a:ext uri="{FF2B5EF4-FFF2-40B4-BE49-F238E27FC236}">
                <a16:creationId xmlns:a16="http://schemas.microsoft.com/office/drawing/2014/main" id="{6F1BAFA2-C72B-4509-AAC2-EBDA78F8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145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Becas y solicitudes</a:t>
            </a:r>
          </a:p>
        </p:txBody>
      </p:sp>
      <p:sp>
        <p:nvSpPr>
          <p:cNvPr id="9" name="module-02-description">
            <a:extLst xmlns:a="http://schemas.openxmlformats.org/drawingml/2006/main">
              <a:ext uri="{FF2B5EF4-FFF2-40B4-BE49-F238E27FC236}">
                <a16:creationId xmlns:a16="http://schemas.microsoft.com/office/drawing/2014/main" id="{14996FAB-1CF9-4037-AD46-B05355DB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67000"/>
            <a:ext cx="4238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82B43"/>
                </a:solidFill>
                <a:latin typeface="Arial"/>
                <a:ea typeface="Arial"/>
                <a:cs typeface="Arial"/>
              </a:rPr>
              <a:t>Convocatorias y revisión de solicitudes.</a:t>
            </a:r>
          </a:p>
        </p:txBody>
      </p:sp>
      <p:sp>
        <p:nvSpPr>
          <p:cNvPr id="10" name="module-03-number">
            <a:extLst xmlns:a="http://schemas.openxmlformats.org/drawingml/2006/main">
              <a:ext uri="{FF2B5EF4-FFF2-40B4-BE49-F238E27FC236}">
                <a16:creationId xmlns:a16="http://schemas.microsoft.com/office/drawing/2014/main" id="{E8ABA8AF-635F-413F-80DC-F777A365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819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module-03-name">
            <a:extLst xmlns:a="http://schemas.openxmlformats.org/drawingml/2006/main">
              <a:ext uri="{FF2B5EF4-FFF2-40B4-BE49-F238E27FC236}">
                <a16:creationId xmlns:a16="http://schemas.microsoft.com/office/drawing/2014/main" id="{5FAC9377-E8BB-4B24-BD80-3467D3D4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148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Pagos de becas</a:t>
            </a:r>
          </a:p>
        </p:txBody>
      </p:sp>
      <p:sp>
        <p:nvSpPr>
          <p:cNvPr id="12" name="module-03-description">
            <a:extLst xmlns:a="http://schemas.openxmlformats.org/drawingml/2006/main">
              <a:ext uri="{FF2B5EF4-FFF2-40B4-BE49-F238E27FC236}">
                <a16:creationId xmlns:a16="http://schemas.microsoft.com/office/drawing/2014/main" id="{58129DCB-7A9F-4F7E-B9A3-6F377900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67250"/>
            <a:ext cx="4238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82B43"/>
                </a:solidFill>
                <a:latin typeface="Arial"/>
                <a:ea typeface="Arial"/>
                <a:cs typeface="Arial"/>
              </a:rPr>
              <a:t>Registro e historial de depósitos realizados.</a:t>
            </a:r>
          </a:p>
        </p:txBody>
      </p:sp>
      <p:sp>
        <p:nvSpPr>
          <p:cNvPr id="13" name="module-04-number">
            <a:extLst xmlns:a="http://schemas.openxmlformats.org/drawingml/2006/main">
              <a:ext uri="{FF2B5EF4-FFF2-40B4-BE49-F238E27FC236}">
                <a16:creationId xmlns:a16="http://schemas.microsoft.com/office/drawing/2014/main" id="{6A787873-8F86-4DDD-85DC-55137D44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819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B74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module-04-name">
            <a:extLst xmlns:a="http://schemas.openxmlformats.org/drawingml/2006/main">
              <a:ext uri="{FF2B5EF4-FFF2-40B4-BE49-F238E27FC236}">
                <a16:creationId xmlns:a16="http://schemas.microsoft.com/office/drawing/2014/main" id="{97CCBF95-6B9D-44DE-A582-D79D3C94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1480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Noticias y eventos</a:t>
            </a:r>
          </a:p>
        </p:txBody>
      </p:sp>
      <p:sp>
        <p:nvSpPr>
          <p:cNvPr id="15" name="module-04-description">
            <a:extLst xmlns:a="http://schemas.openxmlformats.org/drawingml/2006/main">
              <a:ext uri="{FF2B5EF4-FFF2-40B4-BE49-F238E27FC236}">
                <a16:creationId xmlns:a16="http://schemas.microsoft.com/office/drawing/2014/main" id="{B873C5F3-DFA4-4025-8C2C-8820067A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667250"/>
            <a:ext cx="42386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82B43"/>
                </a:solidFill>
                <a:latin typeface="Arial"/>
                <a:ea typeface="Arial"/>
                <a:cs typeface="Arial"/>
              </a:rPr>
              <a:t>Publicaciones y notificaciones para estudiantes.</a:t>
            </a:r>
          </a:p>
        </p:txBody>
      </p:sp>
    </p:spTree>
    <p:extLst>
      <p:ext uri="{BB962C8B-B14F-4D97-AF65-F5344CB8AC3E}">
        <p14:creationId xmlns:p14="http://schemas.microsoft.com/office/powerpoint/2010/main" val="12551187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E433CC-2ACA-459D-AE86-AB960FF048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851a68ae74a07"/>
          <a:stretch xmlns:a="http://schemas.openxmlformats.org/drawingml/2006/main"/>
        </p:blipFill>
        <p:spPr>
          <a:xfrm xmlns:a="http://schemas.openxmlformats.org/drawingml/2006/main">
            <a:off x="11096625" y="1714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footer-5">
            <a:extLst xmlns:a="http://schemas.openxmlformats.org/drawingml/2006/main">
              <a:ext uri="{FF2B5EF4-FFF2-40B4-BE49-F238E27FC236}">
                <a16:creationId xmlns:a16="http://schemas.microsoft.com/office/drawing/2014/main" id="{E0103199-6BC0-4C00-99CB-1542FDFD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defPPr>
            <a:lvl1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1pPr>
            <a:lvl2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2pPr>
            <a:lvl3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3pPr>
            <a:lvl4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4pPr>
            <a:lvl5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5pPr>
            <a:lvl6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6pPr>
            <a:lvl7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7pPr>
            <a:lvl8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8pPr>
            <a:lvl9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0748A"/>
                </a:solidFill>
                <a:latin typeface="Arial"/>
                <a:ea typeface="Arial"/>
                <a:cs typeface="Arial"/>
              </a:rPr>
              <a:t>NBU   ·   PROYECTO ACADÉMICO                                      05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F475B6-67E0-4D2B-A3A6-56A37BD2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El estudiante usa el portal web</a:t>
            </a:r>
          </a:p>
        </p:txBody>
      </p:sp>
      <p:sp>
        <p:nvSpPr>
          <p:cNvPr id="4" name="portal-label">
            <a:extLst xmlns:a="http://schemas.openxmlformats.org/drawingml/2006/main">
              <a:ext uri="{FF2B5EF4-FFF2-40B4-BE49-F238E27FC236}">
                <a16:creationId xmlns:a16="http://schemas.microsoft.com/office/drawing/2014/main" id="{E2E4ACB7-4D41-409E-ABC9-CD5446E8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38275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PANTALLA ADAPTABLE A CELULAR</a:t>
            </a:r>
          </a:p>
        </p:txBody>
      </p:sp>
      <p:sp>
        <p:nvSpPr>
          <p:cNvPr id="5" name="journey-01-number">
            <a:extLst xmlns:a="http://schemas.openxmlformats.org/drawingml/2006/main">
              <a:ext uri="{FF2B5EF4-FFF2-40B4-BE49-F238E27FC236}">
                <a16:creationId xmlns:a16="http://schemas.microsoft.com/office/drawing/2014/main" id="{AF81BD79-5D33-4BCB-864A-667CEA69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67A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journey-01-label">
            <a:extLst xmlns:a="http://schemas.openxmlformats.org/drawingml/2006/main">
              <a:ext uri="{FF2B5EF4-FFF2-40B4-BE49-F238E27FC236}">
                <a16:creationId xmlns:a16="http://schemas.microsoft.com/office/drawing/2014/main" id="{B599CEB2-DFE5-4E2E-81AF-333AABB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0193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82B43"/>
                </a:solidFill>
                <a:latin typeface="Arial"/>
                <a:ea typeface="Arial"/>
                <a:cs typeface="Arial"/>
              </a:rPr>
              <a:t>Inicia sesión tras la aprobación</a:t>
            </a:r>
          </a:p>
        </p:txBody>
      </p:sp>
      <p:sp>
        <p:nvSpPr>
          <p:cNvPr id="7" name="journey-02-number">
            <a:extLst xmlns:a="http://schemas.openxmlformats.org/drawingml/2006/main">
              <a:ext uri="{FF2B5EF4-FFF2-40B4-BE49-F238E27FC236}">
                <a16:creationId xmlns:a16="http://schemas.microsoft.com/office/drawing/2014/main" id="{285A95CC-9A61-488C-ABB9-6E9592EA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52725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67A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journey-02-label">
            <a:extLst xmlns:a="http://schemas.openxmlformats.org/drawingml/2006/main">
              <a:ext uri="{FF2B5EF4-FFF2-40B4-BE49-F238E27FC236}">
                <a16:creationId xmlns:a16="http://schemas.microsoft.com/office/drawing/2014/main" id="{2F4B83F5-CBC6-4C60-A899-DD64D1C2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52725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82B43"/>
                </a:solidFill>
                <a:latin typeface="Arial"/>
                <a:ea typeface="Arial"/>
                <a:cs typeface="Arial"/>
              </a:rPr>
              <a:t>Explora becas abiertas</a:t>
            </a:r>
          </a:p>
        </p:txBody>
      </p:sp>
      <p:sp>
        <p:nvSpPr>
          <p:cNvPr id="9" name="journey-03-number">
            <a:extLst xmlns:a="http://schemas.openxmlformats.org/drawingml/2006/main">
              <a:ext uri="{FF2B5EF4-FFF2-40B4-BE49-F238E27FC236}">
                <a16:creationId xmlns:a16="http://schemas.microsoft.com/office/drawing/2014/main" id="{1DBC8D65-9EA2-4794-B598-FBD2C4C8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67A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journey-03-label">
            <a:extLst xmlns:a="http://schemas.openxmlformats.org/drawingml/2006/main">
              <a:ext uri="{FF2B5EF4-FFF2-40B4-BE49-F238E27FC236}">
                <a16:creationId xmlns:a16="http://schemas.microsoft.com/office/drawing/2014/main" id="{57B0962A-7C33-40A0-920C-CA6356BE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8615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82B43"/>
                </a:solidFill>
                <a:latin typeface="Arial"/>
                <a:ea typeface="Arial"/>
                <a:cs typeface="Arial"/>
              </a:rPr>
              <a:t>Envía una solicitud</a:t>
            </a:r>
          </a:p>
        </p:txBody>
      </p:sp>
      <p:sp>
        <p:nvSpPr>
          <p:cNvPr id="11" name="journey-04-number">
            <a:extLst xmlns:a="http://schemas.openxmlformats.org/drawingml/2006/main">
              <a:ext uri="{FF2B5EF4-FFF2-40B4-BE49-F238E27FC236}">
                <a16:creationId xmlns:a16="http://schemas.microsoft.com/office/drawing/2014/main" id="{7C56B208-653F-404D-BED1-5D4D9E04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9575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67A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2" name="journey-04-label">
            <a:extLst xmlns:a="http://schemas.openxmlformats.org/drawingml/2006/main">
              <a:ext uri="{FF2B5EF4-FFF2-40B4-BE49-F238E27FC236}">
                <a16:creationId xmlns:a16="http://schemas.microsoft.com/office/drawing/2014/main" id="{62E7D626-F54A-4807-A4B5-82A6F5D8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19575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82B43"/>
                </a:solidFill>
                <a:latin typeface="Arial"/>
                <a:ea typeface="Arial"/>
                <a:cs typeface="Arial"/>
              </a:rPr>
              <a:t>Consulta el estado</a:t>
            </a:r>
          </a:p>
        </p:txBody>
      </p:sp>
      <p:sp>
        <p:nvSpPr>
          <p:cNvPr id="13" name="journey-05-number">
            <a:extLst xmlns:a="http://schemas.openxmlformats.org/drawingml/2006/main">
              <a:ext uri="{FF2B5EF4-FFF2-40B4-BE49-F238E27FC236}">
                <a16:creationId xmlns:a16="http://schemas.microsoft.com/office/drawing/2014/main" id="{6EDBDD3D-CEA7-4592-8E0A-E205CC16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62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67A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4" name="journey-05-label">
            <a:extLst xmlns:a="http://schemas.openxmlformats.org/drawingml/2006/main">
              <a:ext uri="{FF2B5EF4-FFF2-40B4-BE49-F238E27FC236}">
                <a16:creationId xmlns:a16="http://schemas.microsoft.com/office/drawing/2014/main" id="{672F9DBA-B072-4B18-853E-1182A6BA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530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82B43"/>
                </a:solidFill>
                <a:latin typeface="Arial"/>
                <a:ea typeface="Arial"/>
                <a:cs typeface="Arial"/>
              </a:rPr>
              <a:t>Revisa depósitos y avisos</a:t>
            </a:r>
          </a:p>
        </p:txBody>
      </p:sp>
      <p:sp>
        <p:nvSpPr>
          <p:cNvPr id="15" name="journey-promise">
            <a:extLst xmlns:a="http://schemas.openxmlformats.org/drawingml/2006/main">
              <a:ext uri="{FF2B5EF4-FFF2-40B4-BE49-F238E27FC236}">
                <a16:creationId xmlns:a16="http://schemas.microsoft.com/office/drawing/2014/main" id="{39542AC2-7DE9-43B1-AAC0-56BBCFD6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Información privada de cada cuenta.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D62D46-7902-4061-900E-B19CFAF202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ef0d617d743e4"/>
          <a:stretch xmlns:a="http://schemas.openxmlformats.org/drawingml/2006/main"/>
        </p:blipFill>
        <p:spPr>
          <a:xfrm xmlns:a="http://schemas.openxmlformats.org/drawingml/2006/main">
            <a:off x="8257972" y="1409700"/>
            <a:ext cx="2200681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811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80754-85F4-418F-B7BD-63A4C0A0A0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0c78ebab641fb"/>
          <a:stretch xmlns:a="http://schemas.openxmlformats.org/drawingml/2006/main"/>
        </p:blipFill>
        <p:spPr>
          <a:xfrm xmlns:a="http://schemas.openxmlformats.org/drawingml/2006/main">
            <a:off x="11096625" y="1714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footer-6">
            <a:extLst xmlns:a="http://schemas.openxmlformats.org/drawingml/2006/main">
              <a:ext uri="{FF2B5EF4-FFF2-40B4-BE49-F238E27FC236}">
                <a16:creationId xmlns:a16="http://schemas.microsoft.com/office/drawing/2014/main" id="{D05F050C-8B14-4494-B44E-A4BFA41F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defPPr>
            <a:lvl1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1pPr>
            <a:lvl2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2pPr>
            <a:lvl3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3pPr>
            <a:lvl4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4pPr>
            <a:lvl5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5pPr>
            <a:lvl6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6pPr>
            <a:lvl7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7pPr>
            <a:lvl8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8pPr>
            <a:lvl9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0748A"/>
                </a:solidFill>
                <a:latin typeface="Arial"/>
                <a:ea typeface="Arial"/>
                <a:cs typeface="Arial"/>
              </a:rPr>
              <a:t>NBU   ·   PROYECTO ACADÉMICO                                      06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B742F4-C5B8-4270-879B-2C8A5DF1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Operaciones administrativas CRUD</a:t>
            </a:r>
          </a:p>
        </p:txBody>
      </p:sp>
      <p:sp>
        <p:nvSpPr>
          <p:cNvPr id="4" name="admin-intro">
            <a:extLst xmlns:a="http://schemas.openxmlformats.org/drawingml/2006/main">
              <a:ext uri="{FF2B5EF4-FFF2-40B4-BE49-F238E27FC236}">
                <a16:creationId xmlns:a16="http://schemas.microsoft.com/office/drawing/2014/main" id="{2443DC55-F917-42F3-8790-DCB772D5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906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82B43"/>
                </a:solidFill>
                <a:latin typeface="Arial"/>
                <a:ea typeface="Arial"/>
                <a:cs typeface="Arial"/>
              </a:rPr>
              <a:t>El personal trabaja desde el panel web o el ejecutable de Windows Forms</a:t>
            </a:r>
          </a:p>
        </p:txBody>
      </p:sp>
      <p:sp>
        <p:nvSpPr>
          <p:cNvPr id="5" name="crud-Listar-title">
            <a:extLst xmlns:a="http://schemas.openxmlformats.org/drawingml/2006/main">
              <a:ext uri="{FF2B5EF4-FFF2-40B4-BE49-F238E27FC236}">
                <a16:creationId xmlns:a16="http://schemas.microsoft.com/office/drawing/2014/main" id="{CD0E0580-1D86-4C6B-909F-EC1C5F36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67AD"/>
                </a:solidFill>
                <a:latin typeface="Arial"/>
                <a:ea typeface="Arial"/>
                <a:cs typeface="Arial"/>
              </a:rPr>
              <a:t>Listar</a:t>
            </a:r>
          </a:p>
        </p:txBody>
      </p:sp>
      <p:sp>
        <p:nvSpPr>
          <p:cNvPr id="6" name="crud-Listar-description">
            <a:extLst xmlns:a="http://schemas.openxmlformats.org/drawingml/2006/main">
              <a:ext uri="{FF2B5EF4-FFF2-40B4-BE49-F238E27FC236}">
                <a16:creationId xmlns:a16="http://schemas.microsoft.com/office/drawing/2014/main" id="{7BB1827D-423F-45F6-AA5C-A51DF6EB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2286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82B43"/>
                </a:solidFill>
                <a:latin typeface="Arial"/>
                <a:ea typeface="Arial"/>
                <a:cs typeface="Arial"/>
              </a:rPr>
              <a:t>Consultar los registros del módulo.</a:t>
            </a:r>
          </a:p>
        </p:txBody>
      </p:sp>
      <p:sp>
        <p:nvSpPr>
          <p:cNvPr id="7" name="crud-Crear-title">
            <a:extLst xmlns:a="http://schemas.openxmlformats.org/drawingml/2006/main">
              <a:ext uri="{FF2B5EF4-FFF2-40B4-BE49-F238E27FC236}">
                <a16:creationId xmlns:a16="http://schemas.microsoft.com/office/drawing/2014/main" id="{8F16BA2C-0E33-4232-8272-9D418CE5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908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Crear</a:t>
            </a:r>
          </a:p>
        </p:txBody>
      </p:sp>
      <p:sp>
        <p:nvSpPr>
          <p:cNvPr id="8" name="crud-Crear-description">
            <a:extLst xmlns:a="http://schemas.openxmlformats.org/drawingml/2006/main">
              <a:ext uri="{FF2B5EF4-FFF2-40B4-BE49-F238E27FC236}">
                <a16:creationId xmlns:a16="http://schemas.microsoft.com/office/drawing/2014/main" id="{9CD112F1-1389-4CE9-9D88-433B9B08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257550"/>
            <a:ext cx="2286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82B43"/>
                </a:solidFill>
                <a:latin typeface="Arial"/>
                <a:ea typeface="Arial"/>
                <a:cs typeface="Arial"/>
              </a:rPr>
              <a:t>Agregar estudiantes, becas o publicaciones.</a:t>
            </a:r>
          </a:p>
        </p:txBody>
      </p:sp>
      <p:sp>
        <p:nvSpPr>
          <p:cNvPr id="9" name="crud-Editar-title">
            <a:extLst xmlns:a="http://schemas.openxmlformats.org/drawingml/2006/main">
              <a:ext uri="{FF2B5EF4-FFF2-40B4-BE49-F238E27FC236}">
                <a16:creationId xmlns:a16="http://schemas.microsoft.com/office/drawing/2014/main" id="{F39BCD23-78E4-41B0-8CA0-1B20A171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Editar</a:t>
            </a:r>
          </a:p>
        </p:txBody>
      </p:sp>
      <p:sp>
        <p:nvSpPr>
          <p:cNvPr id="10" name="crud-Editar-description">
            <a:extLst xmlns:a="http://schemas.openxmlformats.org/drawingml/2006/main">
              <a:ext uri="{FF2B5EF4-FFF2-40B4-BE49-F238E27FC236}">
                <a16:creationId xmlns:a16="http://schemas.microsoft.com/office/drawing/2014/main" id="{3E18C002-E590-4DB9-87A4-AC65BBCC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57550"/>
            <a:ext cx="2286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82B43"/>
                </a:solidFill>
                <a:latin typeface="Arial"/>
                <a:ea typeface="Arial"/>
                <a:cs typeface="Arial"/>
              </a:rPr>
              <a:t>Actualizar estados y datos existentes.</a:t>
            </a:r>
          </a:p>
        </p:txBody>
      </p:sp>
      <p:sp>
        <p:nvSpPr>
          <p:cNvPr id="11" name="crud-Eliminar-title">
            <a:extLst xmlns:a="http://schemas.openxmlformats.org/drawingml/2006/main">
              <a:ext uri="{FF2B5EF4-FFF2-40B4-BE49-F238E27FC236}">
                <a16:creationId xmlns:a16="http://schemas.microsoft.com/office/drawing/2014/main" id="{517AF500-320D-4880-AD7D-1591BD87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908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B8851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B8851B"/>
                </a:solidFill>
                <a:latin typeface="Arial"/>
                <a:ea typeface="Arial"/>
                <a:cs typeface="Arial"/>
              </a:rPr>
              <a:t>Eliminar</a:t>
            </a:r>
          </a:p>
        </p:txBody>
      </p:sp>
      <p:sp>
        <p:nvSpPr>
          <p:cNvPr id="12" name="crud-Eliminar-description">
            <a:extLst xmlns:a="http://schemas.openxmlformats.org/drawingml/2006/main">
              <a:ext uri="{FF2B5EF4-FFF2-40B4-BE49-F238E27FC236}">
                <a16:creationId xmlns:a16="http://schemas.microsoft.com/office/drawing/2014/main" id="{C115756F-0185-4780-A84C-4A6E070B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257550"/>
            <a:ext cx="2286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65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82B43"/>
                </a:solidFill>
                <a:latin typeface="Arial"/>
                <a:ea typeface="Arial"/>
                <a:cs typeface="Arial"/>
              </a:rPr>
              <a:t>Quitar registros cuando sus relaciones lo permiten.</a:t>
            </a:r>
          </a:p>
        </p:txBody>
      </p:sp>
      <p:sp>
        <p:nvSpPr>
          <p:cNvPr id="13" name="admin-rule">
            <a:extLst xmlns:a="http://schemas.openxmlformats.org/drawingml/2006/main">
              <a:ext uri="{FF2B5EF4-FFF2-40B4-BE49-F238E27FC236}">
                <a16:creationId xmlns:a16="http://schemas.microsoft.com/office/drawing/2014/main" id="{9CEB274F-B0F7-4ACB-8DF3-90687DC3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0"/>
            <a:ext cx="10525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Los registros nuevos se revisan en Registros pendientes antes de activar la cuenta.</a:t>
            </a:r>
          </a:p>
        </p:txBody>
      </p:sp>
    </p:spTree>
    <p:extLst>
      <p:ext uri="{BB962C8B-B14F-4D97-AF65-F5344CB8AC3E}">
        <p14:creationId xmlns:p14="http://schemas.microsoft.com/office/powerpoint/2010/main" val="8195831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698AB-E561-4AE2-AE8F-F1F6B4AB3E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8e2a9da5c4186"/>
          <a:stretch xmlns:a="http://schemas.openxmlformats.org/drawingml/2006/main"/>
        </p:blipFill>
        <p:spPr>
          <a:xfrm xmlns:a="http://schemas.openxmlformats.org/drawingml/2006/main">
            <a:off x="11096625" y="1714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footer-7">
            <a:extLst xmlns:a="http://schemas.openxmlformats.org/drawingml/2006/main">
              <a:ext uri="{FF2B5EF4-FFF2-40B4-BE49-F238E27FC236}">
                <a16:creationId xmlns:a16="http://schemas.microsoft.com/office/drawing/2014/main" id="{FFB9EAB2-7E08-4087-A6F1-90BC1F97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defPPr>
            <a:lvl1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1pPr>
            <a:lvl2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2pPr>
            <a:lvl3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3pPr>
            <a:lvl4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4pPr>
            <a:lvl5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5pPr>
            <a:lvl6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6pPr>
            <a:lvl7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7pPr>
            <a:lvl8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8pPr>
            <a:lvl9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>
                <a:solidFill>
                  <a:srgbClr val="60748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0748A"/>
                </a:solidFill>
                <a:latin typeface="Arial"/>
                <a:ea typeface="Arial"/>
                <a:cs typeface="Arial"/>
              </a:rPr>
              <a:t>NBU   ·   PROYECTO ACADÉMICO                                      07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4D2EC9-706F-420A-A667-AAC16256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Acceso seguro y pagos con alcance claro</a:t>
            </a:r>
          </a:p>
        </p:txBody>
      </p:sp>
      <p:sp>
        <p:nvSpPr>
          <p:cNvPr id="4" name="privacy-headline">
            <a:extLst xmlns:a="http://schemas.openxmlformats.org/drawingml/2006/main">
              <a:ext uri="{FF2B5EF4-FFF2-40B4-BE49-F238E27FC236}">
                <a16:creationId xmlns:a16="http://schemas.microsoft.com/office/drawing/2014/main" id="{456EB50B-ECD1-4016-9091-DA627D08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5715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defPPr>
            <a:lvl1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1pPr>
            <a:lvl2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2pPr>
            <a:lvl3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3pPr>
            <a:lvl4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4pPr>
            <a:lvl5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5pPr>
            <a:lvl6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6pPr>
            <a:lvl7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7pPr>
            <a:lvl8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8pPr>
            <a:lvl9pPr algn="l"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775" b="1">
                <a:solidFill>
                  <a:srgbClr val="092754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92754"/>
                </a:solidFill>
                <a:latin typeface="Arial"/>
                <a:ea typeface="Arial"/>
                <a:cs typeface="Arial"/>
              </a:rPr>
              <a:t>Cada estudiante consulta solo su información.</a:t>
            </a:r>
          </a:p>
        </p:txBody>
      </p:sp>
      <p:sp>
        <p:nvSpPr>
          <p:cNvPr id="5" name="privacy-detail">
            <a:extLst xmlns:a="http://schemas.openxmlformats.org/drawingml/2006/main">
              <a:ext uri="{FF2B5EF4-FFF2-40B4-BE49-F238E27FC236}">
                <a16:creationId xmlns:a16="http://schemas.microsoft.com/office/drawing/2014/main" id="{A3B7FA98-39DA-41AA-8AA6-A9E65E40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5334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82B43"/>
                </a:solidFill>
                <a:latin typeface="Arial"/>
                <a:ea typeface="Arial"/>
                <a:cs typeface="Arial"/>
              </a:rPr>
              <a:t>Identity protege las contraseñas mediante hash. El personal requiere rol Admin; el portal filtra los datos con el estudiante ligado a la cuenta autenticada.</a:t>
            </a:r>
          </a:p>
        </p:txBody>
      </p:sp>
      <p:sp>
        <p:nvSpPr>
          <p:cNvPr id="6" name="payments-label">
            <a:extLst xmlns:a="http://schemas.openxmlformats.org/drawingml/2006/main">
              <a:ext uri="{FF2B5EF4-FFF2-40B4-BE49-F238E27FC236}">
                <a16:creationId xmlns:a16="http://schemas.microsoft.com/office/drawing/2014/main" id="{32DE7AF2-FF35-4310-A8B2-B7F86272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19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267A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67AD"/>
                </a:solidFill>
                <a:latin typeface="Arial"/>
                <a:ea typeface="Arial"/>
                <a:cs typeface="Arial"/>
              </a:rPr>
              <a:t>Depósitos</a:t>
            </a:r>
          </a:p>
        </p:txBody>
      </p:sp>
      <p:sp>
        <p:nvSpPr>
          <p:cNvPr id="7" name="payments-text">
            <a:extLst xmlns:a="http://schemas.openxmlformats.org/drawingml/2006/main">
              <a:ext uri="{FF2B5EF4-FFF2-40B4-BE49-F238E27FC236}">
                <a16:creationId xmlns:a16="http://schemas.microsoft.com/office/drawing/2014/main" id="{0015C957-C96D-44CC-BC58-1AE3C7FD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38375"/>
            <a:ext cx="4191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82B43"/>
                </a:solidFill>
                <a:latin typeface="Arial"/>
                <a:ea typeface="Arial"/>
                <a:cs typeface="Arial"/>
              </a:rPr>
              <a:t>El personal registra depósitos realizados fuera de NBU para que el estudiante consulte su historial.</a:t>
            </a:r>
          </a:p>
        </p:txBody>
      </p:sp>
      <p:sp>
        <p:nvSpPr>
          <p:cNvPr id="8" name="transfers-label">
            <a:extLst xmlns:a="http://schemas.openxmlformats.org/drawingml/2006/main">
              <a:ext uri="{FF2B5EF4-FFF2-40B4-BE49-F238E27FC236}">
                <a16:creationId xmlns:a16="http://schemas.microsoft.com/office/drawing/2014/main" id="{A108FEB9-6913-4F65-9C35-0E73F89E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147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B742"/>
                </a:solidFill>
                <a:latin typeface="Arial"/>
                <a:ea typeface="Arial"/>
                <a:cs typeface="Arial"/>
              </a:rPr>
              <a:t>Transferencias bancarias</a:t>
            </a:r>
          </a:p>
        </p:txBody>
      </p:sp>
      <p:sp>
        <p:nvSpPr>
          <p:cNvPr id="9" name="transfers-text">
            <a:extLst xmlns:a="http://schemas.openxmlformats.org/drawingml/2006/main">
              <a:ext uri="{FF2B5EF4-FFF2-40B4-BE49-F238E27FC236}">
                <a16:creationId xmlns:a16="http://schemas.microsoft.com/office/drawing/2014/main" id="{4D02BDC6-C881-470B-891E-07EBF341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3338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defPPr>
            <a:lvl1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1pPr>
            <a:lvl2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2pPr>
            <a:lvl3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3pPr>
            <a:lvl4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4pPr>
            <a:lvl5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5pPr>
            <a:lvl6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6pPr>
            <a:lvl7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7pPr>
            <a:lvl8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8pPr>
            <a:lvl9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>
                <a:solidFill>
                  <a:srgbClr val="182B43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82B43"/>
                </a:solidFill>
                <a:latin typeface="Arial"/>
                <a:ea typeface="Arial"/>
                <a:cs typeface="Arial"/>
              </a:rPr>
              <a:t>La opción aparece deshabilitada y marcada como Próximamente. No envía, recibe ni mueve dinero.</a:t>
            </a:r>
          </a:p>
        </p:txBody>
      </p:sp>
    </p:spTree>
    <p:extLst>
      <p:ext uri="{BB962C8B-B14F-4D97-AF65-F5344CB8AC3E}">
        <p14:creationId xmlns:p14="http://schemas.microsoft.com/office/powerpoint/2010/main" val="4331666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27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3EBCB-B813-4F32-A99D-16B06971ED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6b3df0ed44198"/>
          <a:stretch xmlns:a="http://schemas.openxmlformats.org/drawingml/2006/main"/>
        </p:blipFill>
        <p:spPr>
          <a:xfrm xmlns:a="http://schemas.openxmlformats.org/drawingml/2006/main">
            <a:off x="11096625" y="17145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closing-nbu">
            <a:extLst xmlns:a="http://schemas.openxmlformats.org/drawingml/2006/main">
              <a:ext uri="{FF2B5EF4-FFF2-40B4-BE49-F238E27FC236}">
                <a16:creationId xmlns:a16="http://schemas.microsoft.com/office/drawing/2014/main" id="{DA0E5298-4D3A-4E39-8F46-7103F03B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3429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745"/>
          </a:bodyPr>
          <a:lstStyle xmlns:a="http://schemas.openxmlformats.org/drawingml/2006/main">
            <a:def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050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7050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NBU</a:t>
            </a:r>
          </a:p>
        </p:txBody>
      </p:sp>
      <p:sp>
        <p:nvSpPr>
          <p:cNvPr id="3" name="closing-slogan">
            <a:extLst xmlns:a="http://schemas.openxmlformats.org/drawingml/2006/main">
              <a:ext uri="{FF2B5EF4-FFF2-40B4-BE49-F238E27FC236}">
                <a16:creationId xmlns:a16="http://schemas.microsoft.com/office/drawing/2014/main" id="{5FEC8721-84CD-4108-8CE1-E0FF6669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B7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B742"/>
                </a:solidFill>
                <a:latin typeface="Arial"/>
                <a:ea typeface="Arial"/>
                <a:cs typeface="Arial"/>
              </a:rPr>
              <a:t>Tu esfuerzo abre oportunidades</a:t>
            </a:r>
          </a:p>
        </p:txBody>
      </p:sp>
      <p:sp>
        <p:nvSpPr>
          <p:cNvPr id="4" name="deliverables-title">
            <a:extLst xmlns:a="http://schemas.openxmlformats.org/drawingml/2006/main">
              <a:ext uri="{FF2B5EF4-FFF2-40B4-BE49-F238E27FC236}">
                <a16:creationId xmlns:a16="http://schemas.microsoft.com/office/drawing/2014/main" id="{E25592CF-5AC3-4388-897C-D4C72932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47975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Entregables</a:t>
            </a:r>
          </a:p>
        </p:txBody>
      </p:sp>
      <p:sp>
        <p:nvSpPr>
          <p:cNvPr id="5" name="deliverables-copy">
            <a:extLst xmlns:a="http://schemas.openxmlformats.org/drawingml/2006/main">
              <a:ext uri="{FF2B5EF4-FFF2-40B4-BE49-F238E27FC236}">
                <a16:creationId xmlns:a16="http://schemas.microsoft.com/office/drawing/2014/main" id="{1C6E723F-C848-482F-A6CF-8C71C488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9950"/>
            <a:ext cx="981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defPPr>
            <a:lvl1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1pPr>
            <a:lvl2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2pPr>
            <a:lvl3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3pPr>
            <a:lvl4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4pPr>
            <a:lvl5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5pPr>
            <a:lvl6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6pPr>
            <a:lvl7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7pPr>
            <a:lvl8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8pPr>
            <a:lvl9pPr algn="l"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DCE8F5"/>
                </a:solidFill>
                <a:latin typeface="Arial"/>
                <a:ea typeface="Arial"/>
                <a:cs typeface="Arial"/>
              </a:rPr>
              <a:t>Código web y escritorio · Script SQL Server · Ficha técnica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650">
                <a:solidFill>
                  <a:srgbClr val="DCE8F5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DCE8F5"/>
                </a:solidFill>
                <a:latin typeface="Arial"/>
                <a:ea typeface="Arial"/>
                <a:cs typeface="Arial"/>
              </a:rPr>
              <a:t>Manual de usuario · Documentación · Presentación · Ejecutable Windows</a:t>
            </a:r>
          </a:p>
        </p:txBody>
      </p:sp>
      <p:sp>
        <p:nvSpPr>
          <p:cNvPr id="6" name="team-line">
            <a:extLst xmlns:a="http://schemas.openxmlformats.org/drawingml/2006/main">
              <a:ext uri="{FF2B5EF4-FFF2-40B4-BE49-F238E27FC236}">
                <a16:creationId xmlns:a16="http://schemas.microsoft.com/office/drawing/2014/main" id="{04D9B959-840D-4D0C-89F6-EC408553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0B6C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B6C3"/>
                </a:solidFill>
                <a:latin typeface="Arial"/>
                <a:ea typeface="Arial"/>
                <a:cs typeface="Arial"/>
              </a:rPr>
              <a:t>Grupo INS-1111</a:t>
            </a:r>
          </a:p>
        </p:txBody>
      </p:sp>
      <p:sp>
        <p:nvSpPr>
          <p:cNvPr id="7" name="team-names">
            <a:extLst xmlns:a="http://schemas.openxmlformats.org/drawingml/2006/main">
              <a:ext uri="{FF2B5EF4-FFF2-40B4-BE49-F238E27FC236}">
                <a16:creationId xmlns:a16="http://schemas.microsoft.com/office/drawing/2014/main" id="{9426ED04-550E-4755-BF7E-7538C040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5905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Carlos Jose Maltes Martinez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Verno Jose Chaves Lopez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Dereck Sahid Davila Duarte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Ismael Exequiel Noguera Arias</a:t>
            </a:r>
          </a:p>
        </p:txBody>
      </p:sp>
      <p:sp>
        <p:nvSpPr>
          <p:cNvPr id="8" name="repo">
            <a:extLst xmlns:a="http://schemas.openxmlformats.org/drawingml/2006/main">
              <a:ext uri="{FF2B5EF4-FFF2-40B4-BE49-F238E27FC236}">
                <a16:creationId xmlns:a16="http://schemas.microsoft.com/office/drawing/2014/main" id="{00C08F69-0F16-4702-95B3-C16021D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340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defPPr>
            <a:lvl1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1pPr>
            <a:lvl2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2pPr>
            <a:lvl3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3pPr>
            <a:lvl4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4pPr>
            <a:lvl5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5pPr>
            <a:lvl6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6pPr>
            <a:lvl7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7pPr>
            <a:lvl8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8pPr>
            <a:lvl9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425">
                <a:solidFill>
                  <a:srgbClr val="C9D8E8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C9D8E8"/>
                </a:solidFill>
                <a:latin typeface="Arial"/>
                <a:ea typeface="Arial"/>
                <a:cs typeface="Arial"/>
              </a:rPr>
              <a:t>github.com/maltescharlie-max/NBU</a:t>
            </a:r>
          </a:p>
        </p:txBody>
      </p:sp>
    </p:spTree>
    <p:extLst>
      <p:ext uri="{BB962C8B-B14F-4D97-AF65-F5344CB8AC3E}">
        <p14:creationId xmlns:p14="http://schemas.microsoft.com/office/powerpoint/2010/main" val="1904950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2026-10-31T18:13:24.6790000Z</dcterms:created>
  <dcterms:modified xsi:type="dcterms:W3CDTF">2026-10-31T18:13:24.6790000Z</dcterms:modified>
</coreProperties>
</file>