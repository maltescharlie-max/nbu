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d2ed8327c4740" /><Relationship Type="http://schemas.openxmlformats.org/officeDocument/2006/relationships/extended-properties" Target="/docProps/app.xml" Id="Rdfedfdfdd1bd40a8" /><Relationship Type="http://schemas.openxmlformats.org/officeDocument/2006/relationships/officeDocument" Target="/ppt/presentation.xml" Id="R47fc384860fc46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4767db30d44cab"/>
  </p:sldMasterIdLst>
  <p:notesMasterIdLst>
    <p:notesMasterId xmlns:r="http://schemas.openxmlformats.org/officeDocument/2006/relationships" r:id="Rcca1b5c7b6e54125"/>
  </p:notesMasterIdLst>
  <p:sldIdLst>
    <p:sldId xmlns:r="http://schemas.openxmlformats.org/officeDocument/2006/relationships" id="256" r:id="R3666949bc4e240dc"/>
    <p:sldId xmlns:r="http://schemas.openxmlformats.org/officeDocument/2006/relationships" id="257" r:id="R4be75cd6601147fb"/>
    <p:sldId xmlns:r="http://schemas.openxmlformats.org/officeDocument/2006/relationships" id="258" r:id="R898db47ab68f478c"/>
    <p:sldId xmlns:r="http://schemas.openxmlformats.org/officeDocument/2006/relationships" id="259" r:id="R2863dfe1dbac4433"/>
    <p:sldId xmlns:r="http://schemas.openxmlformats.org/officeDocument/2006/relationships" id="260" r:id="R467670c56a504f9f"/>
    <p:sldId xmlns:r="http://schemas.openxmlformats.org/officeDocument/2006/relationships" id="261" r:id="R2122863b0b0c409b"/>
    <p:sldId xmlns:r="http://schemas.openxmlformats.org/officeDocument/2006/relationships" id="262" r:id="R859435e79bdd4fe5"/>
    <p:sldId xmlns:r="http://schemas.openxmlformats.org/officeDocument/2006/relationships" id="263" r:id="R60118a18f65a4c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3118767e1493e" /><Relationship Type="http://schemas.openxmlformats.org/officeDocument/2006/relationships/slideMaster" Target="/ppt/slideMasters/slideMaster1.xml" Id="R484767db30d44cab" /><Relationship Type="http://schemas.openxmlformats.org/officeDocument/2006/relationships/notesMaster" Target="/ppt/notesMasters/notesMaster1.xml" Id="Rcca1b5c7b6e54125" /><Relationship Type="http://schemas.openxmlformats.org/officeDocument/2006/relationships/presProps" Target="/ppt/presProps.xml" Id="R7e7b0447f45d4549" /><Relationship Type="http://schemas.openxmlformats.org/officeDocument/2006/relationships/tableStyles" Target="/ppt/tableStyles.xml" Id="Rd6c8b80de9fb4295" /><Relationship Type="http://schemas.openxmlformats.org/officeDocument/2006/relationships/slide" Target="/ppt/slides/slide1.xml" Id="R3666949bc4e240dc" /><Relationship Type="http://schemas.openxmlformats.org/officeDocument/2006/relationships/slide" Target="/ppt/slides/slide2.xml" Id="R4be75cd6601147fb" /><Relationship Type="http://schemas.openxmlformats.org/officeDocument/2006/relationships/slide" Target="/ppt/slides/slide3.xml" Id="R898db47ab68f478c" /><Relationship Type="http://schemas.openxmlformats.org/officeDocument/2006/relationships/slide" Target="/ppt/slides/slide4.xml" Id="R2863dfe1dbac4433" /><Relationship Type="http://schemas.openxmlformats.org/officeDocument/2006/relationships/slide" Target="/ppt/slides/slide5.xml" Id="R467670c56a504f9f" /><Relationship Type="http://schemas.openxmlformats.org/officeDocument/2006/relationships/slide" Target="/ppt/slides/slide6.xml" Id="R2122863b0b0c409b" /><Relationship Type="http://schemas.openxmlformats.org/officeDocument/2006/relationships/slide" Target="/ppt/slides/slide7.xml" Id="R859435e79bdd4fe5" /><Relationship Type="http://schemas.openxmlformats.org/officeDocument/2006/relationships/slide" Target="/ppt/slides/slide8.xml" Id="R60118a18f65a4c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d7aaf57f543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0ba3a704f496d" /><Relationship Type="http://schemas.openxmlformats.org/officeDocument/2006/relationships/notesMaster" Target="/ppt/notesMasters/notesMaster1.xml" Id="R51042790d5b146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11ace8b2648a2" /><Relationship Type="http://schemas.openxmlformats.org/officeDocument/2006/relationships/notesMaster" Target="/ppt/notesMasters/notesMaster1.xml" Id="Rbbada0adaecd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19796a6014777" /><Relationship Type="http://schemas.openxmlformats.org/officeDocument/2006/relationships/notesMaster" Target="/ppt/notesMasters/notesMaster1.xml" Id="R1b1765441f914d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ee81a451fa4909" /><Relationship Type="http://schemas.openxmlformats.org/officeDocument/2006/relationships/notesMaster" Target="/ppt/notesMasters/notesMaster1.xml" Id="R5c735e4f720d42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4b2b45f0334d02" /><Relationship Type="http://schemas.openxmlformats.org/officeDocument/2006/relationships/notesMaster" Target="/ppt/notesMasters/notesMaster1.xml" Id="R0d234e497ee1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664bd685504728" /><Relationship Type="http://schemas.openxmlformats.org/officeDocument/2006/relationships/notesMaster" Target="/ppt/notesMasters/notesMaster1.xml" Id="Rcb0008e6932847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229a8e91554b27" /><Relationship Type="http://schemas.openxmlformats.org/officeDocument/2006/relationships/notesMaster" Target="/ppt/notesMasters/notesMaster1.xml" Id="R0dd7d237b4ec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cf4065cec94925" /><Relationship Type="http://schemas.openxmlformats.org/officeDocument/2006/relationships/notesMaster" Target="/ppt/notesMasters/notesMaster1.xml" Id="R028d5a81463f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Presentamos NBU, Nicaragua Becas Universitarias. El proyecto reúne la administración de becas con la información que consulta cada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sistema cubre dos necesidades relacionadas: seguimiento privado para el estudiante y gestión de datos para el personal. La ficha del proyecto fija cuatro módulos principales.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NBU tiene un proyecto de datos compartido. ASP.NET Core MVC y Windows Forms trabajan contra SQL Server mediante Entity Framework Core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cuatro módulos corresponden al alcance acordado en la ficha del proyecto. En el portal también se manejan las solicitudes y los avisos vinculados a esas funciones.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experiencia de estudiante prioriza pantallas sencillas que funcionan en navegador móvil. El portal consulta la cuenta autenticada para mostrar las solicitudes, pagos y notificaciones asociadas a ella.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operaciones de alta, consulta, modificación y eliminación cubren el CRUD solicitado para los módulos administrativos. Las restricciones de relaciones ayudan a evitar borrados que dejen datos vinculados sin referencia.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muestra depósitos registrados manualmente después de una operación externa. La opción bancaria solo comunica que no está habilitada; el proyecto no procesa fondos.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Cerramos con los entregables del proyecto y el equipo INS-1111. La ficha indica la fecha de entrega como pendiente de confirmación con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908f466f946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a77c87b5f41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0b8254a5749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6353884504f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d7b963bd349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6fbd43942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A6AE3D-EE6F-4258-B4DA-E72C9DC8E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C6C697-3B10-4915-BF56-A9EE277583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DD0C7A-5416-4040-B007-68B21CB3B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7BEB26-E721-4D5F-8CD0-B650F80BC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D264EA-784A-4E48-A849-B99984F1A9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503E09-1EDE-4742-83A2-FD18B1EA1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287A09-C6E0-4C5E-94B5-BB9007E8C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4FDF94-9901-4DFF-BCA6-2E12562531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A7545D-7154-41C1-8AF5-72515B6A4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7ED679-8260-4394-99FE-901CE4F59C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8799cfc904cbc" /><Relationship Type="http://schemas.openxmlformats.org/officeDocument/2006/relationships/slideLayout" Target="/ppt/slideLayouts/slideLayout1.xml" Id="R8b40fe34f7394b94" /><Relationship Type="http://schemas.openxmlformats.org/officeDocument/2006/relationships/slideLayout" Target="/ppt/slideLayouts/slideLayout2.xml" Id="R15079ce2ebd74a53" /><Relationship Type="http://schemas.openxmlformats.org/officeDocument/2006/relationships/slideLayout" Target="/ppt/slideLayouts/slideLayout3.xml" Id="R4c88b274f34446e6" /><Relationship Type="http://schemas.openxmlformats.org/officeDocument/2006/relationships/slideLayout" Target="/ppt/slideLayouts/slideLayout4.xml" Id="R48fac022d13e484d" /><Relationship Type="http://schemas.openxmlformats.org/officeDocument/2006/relationships/slideLayout" Target="/ppt/slideLayouts/slideLayout5.xml" Id="R59e0052fd0944bde" /><Relationship Type="http://schemas.openxmlformats.org/officeDocument/2006/relationships/slideLayout" Target="/ppt/slideLayouts/slideLayout6.xml" Id="R71864589ad6b43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40fe34f7394b94"/>
    <p:sldLayoutId xmlns:r="http://schemas.openxmlformats.org/officeDocument/2006/relationships" id="2147483650" r:id="R15079ce2ebd74a53"/>
    <p:sldLayoutId xmlns:r="http://schemas.openxmlformats.org/officeDocument/2006/relationships" id="2147483651" r:id="R4c88b274f34446e6"/>
    <p:sldLayoutId xmlns:r="http://schemas.openxmlformats.org/officeDocument/2006/relationships" id="2147483652" r:id="R48fac022d13e484d"/>
    <p:sldLayoutId xmlns:r="http://schemas.openxmlformats.org/officeDocument/2006/relationships" id="2147483653" r:id="R59e0052fd0944bde"/>
    <p:sldLayoutId xmlns:r="http://schemas.openxmlformats.org/officeDocument/2006/relationships" id="2147483654" r:id="R71864589ad6b43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35631935d4626" /><Relationship Type="http://schemas.openxmlformats.org/officeDocument/2006/relationships/notesSlide" Target="/ppt/notesSlides/notesSlide1.xml" Id="R91cf865e2c9f4f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ef1bd43814e95" /><Relationship Type="http://schemas.openxmlformats.org/officeDocument/2006/relationships/notesSlide" Target="/ppt/notesSlides/notesSlide2.xml" Id="R293fa92d4d47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fe0c206544940" /><Relationship Type="http://schemas.openxmlformats.org/officeDocument/2006/relationships/notesSlide" Target="/ppt/notesSlides/notesSlide3.xml" Id="R11f1dcbcdf1545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3292599f64168" /><Relationship Type="http://schemas.openxmlformats.org/officeDocument/2006/relationships/notesSlide" Target="/ppt/notesSlides/notesSlide4.xml" Id="R7375e2a66fb94f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fc0415cf54bec" /><Relationship Type="http://schemas.openxmlformats.org/officeDocument/2006/relationships/notesSlide" Target="/ppt/notesSlides/notesSlide5.xml" Id="R836589ff4e6f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7f79ebc854dc9" /><Relationship Type="http://schemas.openxmlformats.org/officeDocument/2006/relationships/notesSlide" Target="/ppt/notesSlides/notesSlide6.xml" Id="R5de717f037c940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3038298b84110" /><Relationship Type="http://schemas.openxmlformats.org/officeDocument/2006/relationships/notesSlide" Target="/ppt/notesSlides/notesSlide7.xml" Id="R0ba8b3e4ad0f41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e462ecb974221" /><Relationship Type="http://schemas.openxmlformats.org/officeDocument/2006/relationships/notesSlide" Target="/ppt/notesSlides/notesSlide8.xml" Id="R01841d8b4199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7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initials">
            <a:extLst xmlns:a="http://schemas.openxmlformats.org/drawingml/2006/main">
              <a:ext uri="{FF2B5EF4-FFF2-40B4-BE49-F238E27FC236}">
                <a16:creationId xmlns:a16="http://schemas.microsoft.com/office/drawing/2014/main" id="{AAC59923-944F-4E2F-9FE4-144C6FA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>
            <a:def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4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NBU</a:t>
            </a:r>
          </a:p>
        </p:txBody>
      </p:sp>
      <p:sp>
        <p:nvSpPr>
          <p:cNvPr id="2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7FA8CFF8-9EC2-4B23-8A55-BD32488D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7477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Nicaragua Becas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Universitarias</a:t>
            </a:r>
          </a:p>
        </p:txBody>
      </p:sp>
      <p:sp>
        <p:nvSpPr>
          <p:cNvPr id="3" name="slogan">
            <a:extLst xmlns:a="http://schemas.openxmlformats.org/drawingml/2006/main">
              <a:ext uri="{FF2B5EF4-FFF2-40B4-BE49-F238E27FC236}">
                <a16:creationId xmlns:a16="http://schemas.microsoft.com/office/drawing/2014/main" id="{1E0DD10A-B9C5-4C3A-AC99-2F6E3483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B742"/>
                </a:solidFill>
                <a:latin typeface="Arial"/>
                <a:ea typeface="Arial"/>
                <a:cs typeface="Arial"/>
              </a:rPr>
              <a:t>Tu esfuerzo abre oportunidades</a:t>
            </a:r>
          </a:p>
        </p:txBody>
      </p:sp>
      <p:sp>
        <p:nvSpPr>
          <p:cNvPr id="4" name="program-pair">
            <a:extLst xmlns:a="http://schemas.openxmlformats.org/drawingml/2006/main">
              <a:ext uri="{FF2B5EF4-FFF2-40B4-BE49-F238E27FC236}">
                <a16:creationId xmlns:a16="http://schemas.microsoft.com/office/drawing/2014/main" id="{BFBB73FC-C0D0-4BFC-93BB-A4EF080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ASP.NET Core MVC  +  Windows Forms</a:t>
            </a:r>
          </a:p>
        </p:txBody>
      </p:sp>
      <p:sp>
        <p:nvSpPr>
          <p:cNvPr id="5" name="group">
            <a:extLst xmlns:a="http://schemas.openxmlformats.org/drawingml/2006/main">
              <a:ext uri="{FF2B5EF4-FFF2-40B4-BE49-F238E27FC236}">
                <a16:creationId xmlns:a16="http://schemas.microsoft.com/office/drawing/2014/main" id="{7FA11758-C6B0-4CD8-A72F-5188C7B8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defPPr>
            <a:lvl1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C9D8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9D8E8"/>
                </a:solidFill>
                <a:latin typeface="Arial"/>
                <a:ea typeface="Arial"/>
                <a:cs typeface="Arial"/>
              </a:rPr>
              <a:t>Grupo INS-1111  ·  Programación Estructurada</a:t>
            </a:r>
          </a:p>
        </p:txBody>
      </p:sp>
    </p:spTree>
    <p:extLst>
      <p:ext uri="{BB962C8B-B14F-4D97-AF65-F5344CB8AC3E}">
        <p14:creationId xmlns:p14="http://schemas.microsoft.com/office/powerpoint/2010/main" val="900829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E0CED721-BE77-4A14-9271-D9058DE9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8A"/>
                </a:solidFill>
                <a:latin typeface="Arial"/>
                <a:ea typeface="Arial"/>
                <a:cs typeface="Arial"/>
              </a:rPr>
              <a:t>NBU   ·   PROYECTO ACADÉMICO                                      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F9470E-F4D5-4E93-8489-C77278D2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Una ruta clara para cada beca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B4F2DCBB-AFD5-402F-8023-AB225795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43"/>
                </a:solidFill>
                <a:latin typeface="Arial"/>
                <a:ea typeface="Arial"/>
                <a:cs typeface="Arial"/>
              </a:rPr>
              <a:t>NBU organiza la consulta de oportunidades, el seguimiento de solicitudes y los avisos universitarios en un mismo sistema</a:t>
            </a:r>
          </a:p>
        </p:txBody>
      </p:sp>
      <p:sp>
        <p:nvSpPr>
          <p:cNvPr id="4" name="student-heading">
            <a:extLst xmlns:a="http://schemas.openxmlformats.org/drawingml/2006/main">
              <a:ext uri="{FF2B5EF4-FFF2-40B4-BE49-F238E27FC236}">
                <a16:creationId xmlns:a16="http://schemas.microsoft.com/office/drawing/2014/main" id="{FB876136-42FA-4E01-8E6F-64E3CF4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Estudiante</a:t>
            </a:r>
          </a:p>
        </p:txBody>
      </p:sp>
      <p:sp>
        <p:nvSpPr>
          <p:cNvPr id="5" name="student-copy">
            <a:extLst xmlns:a="http://schemas.openxmlformats.org/drawingml/2006/main">
              <a:ext uri="{FF2B5EF4-FFF2-40B4-BE49-F238E27FC236}">
                <a16:creationId xmlns:a16="http://schemas.microsoft.com/office/drawing/2014/main" id="{07CCA07D-EE82-4DC1-BFD3-4CE955ED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810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Consulta convocatorias y requisitos.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Envía solicitudes y revisa su estado.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Ve los depósitos registrados y las noticias.</a:t>
            </a:r>
          </a:p>
        </p:txBody>
      </p:sp>
      <p:sp>
        <p:nvSpPr>
          <p:cNvPr id="6" name="staff-heading">
            <a:extLst xmlns:a="http://schemas.openxmlformats.org/drawingml/2006/main">
              <a:ext uri="{FF2B5EF4-FFF2-40B4-BE49-F238E27FC236}">
                <a16:creationId xmlns:a16="http://schemas.microsoft.com/office/drawing/2014/main" id="{3DA40AF5-A2D2-4E67-BD3A-50F03308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Personal NBU</a:t>
            </a:r>
          </a:p>
        </p:txBody>
      </p:sp>
      <p:sp>
        <p:nvSpPr>
          <p:cNvPr id="7" name="staff-copy">
            <a:extLst xmlns:a="http://schemas.openxmlformats.org/drawingml/2006/main">
              <a:ext uri="{FF2B5EF4-FFF2-40B4-BE49-F238E27FC236}">
                <a16:creationId xmlns:a16="http://schemas.microsoft.com/office/drawing/2014/main" id="{DB81E6A9-3937-4CB6-895D-9522DB6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5000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Mantiene estudiantes y becas al día.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Revisa solicitudes y registra depósitos.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Publica noticias y avisos.</a:t>
            </a:r>
          </a:p>
        </p:txBody>
      </p:sp>
      <p:sp>
        <p:nvSpPr>
          <p:cNvPr id="8" name="objective">
            <a:extLst xmlns:a="http://schemas.openxmlformats.org/drawingml/2006/main">
              <a:ext uri="{FF2B5EF4-FFF2-40B4-BE49-F238E27FC236}">
                <a16:creationId xmlns:a16="http://schemas.microsoft.com/office/drawing/2014/main" id="{77740ADE-32A9-48D2-8841-64AC951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Objetivo: que ambas partes consulten el mismo proceso con información actualizada.</a:t>
            </a:r>
          </a:p>
        </p:txBody>
      </p:sp>
    </p:spTree>
    <p:extLst>
      <p:ext uri="{BB962C8B-B14F-4D97-AF65-F5344CB8AC3E}">
        <p14:creationId xmlns:p14="http://schemas.microsoft.com/office/powerpoint/2010/main" val="1605688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FF1D1-AA1B-4796-904B-F8CA1F8606E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91400" y="3609975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92754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55A54-3855-42CA-977C-3F038791F5F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276600" y="3609975"/>
            <a:ext cx="138112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0B6C3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DE519-5F68-4F64-ACA6-3DF18CBC565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76600" y="2733675"/>
            <a:ext cx="138112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267AD"/>
            </a:solidFill>
            <a:prstDash val="solid"/>
            <a:tailEnd type="triangle" w="med" len="med"/>
          </a:ln>
        </p:spPr>
      </p:cxn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FCB42BEE-AAE8-49AB-9976-4276E26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8A"/>
                </a:solidFill>
                <a:latin typeface="Arial"/>
                <a:ea typeface="Arial"/>
                <a:cs typeface="Arial"/>
              </a:rPr>
              <a:t>NBU   ·   PROYECTO ACADÉMICO                                      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B7BB4C-F161-4D90-87D7-D8254BB3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Dos aplicaciones, una base compartida</a:t>
            </a:r>
          </a:p>
        </p:txBody>
      </p:sp>
      <p:sp>
        <p:nvSpPr>
          <p:cNvPr id="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74088349-FE4D-4009-9229-1CE00386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8A"/>
                </a:solidFill>
                <a:latin typeface="Arial"/>
                <a:ea typeface="Arial"/>
                <a:cs typeface="Arial"/>
              </a:rPr>
              <a:t>El equipo puede administrar desde web o escritorio; ambas aplicaciones usan las mismas entidades</a:t>
            </a:r>
          </a:p>
        </p:txBody>
      </p:sp>
      <p:sp>
        <p:nvSpPr>
          <p:cNvPr id="4" name="web-app">
            <a:extLst xmlns:a="http://schemas.openxmlformats.org/drawingml/2006/main">
              <a:ext uri="{FF2B5EF4-FFF2-40B4-BE49-F238E27FC236}">
                <a16:creationId xmlns:a16="http://schemas.microsoft.com/office/drawing/2014/main" id="{C38D1380-EA48-41F6-840C-04D3891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571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267AD"/>
          </a:solidFill>
          <a:ln xmlns:a="http://schemas.openxmlformats.org/drawingml/2006/main" w="9525">
            <a:solidFill>
              <a:srgbClr val="1267AD"/>
            </a:solidFill>
            <a:prstDash val="solid"/>
          </a:ln>
        </p:spPr>
      </p:sp>
      <p:sp>
        <p:nvSpPr>
          <p:cNvPr id="5" name="web-app-label">
            <a:extLst xmlns:a="http://schemas.openxmlformats.org/drawingml/2006/main">
              <a:ext uri="{FF2B5EF4-FFF2-40B4-BE49-F238E27FC236}">
                <a16:creationId xmlns:a16="http://schemas.microsoft.com/office/drawing/2014/main" id="{54E6882E-3687-4503-899E-DCF43C72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2152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 web</a:t>
            </a:r>
          </a:p>
        </p:txBody>
      </p:sp>
      <p:sp>
        <p:nvSpPr>
          <p:cNvPr id="6" name="web-app-description">
            <a:extLst xmlns:a="http://schemas.openxmlformats.org/drawingml/2006/main">
              <a:ext uri="{FF2B5EF4-FFF2-40B4-BE49-F238E27FC236}">
                <a16:creationId xmlns:a16="http://schemas.microsoft.com/office/drawing/2014/main" id="{B6084335-9F4F-4D0A-B9F1-6063501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ASP.NET Core MVC</a:t>
            </a:r>
          </a:p>
        </p:txBody>
      </p:sp>
      <p:sp>
        <p:nvSpPr>
          <p:cNvPr id="7" name="desktop-app">
            <a:extLst xmlns:a="http://schemas.openxmlformats.org/drawingml/2006/main">
              <a:ext uri="{FF2B5EF4-FFF2-40B4-BE49-F238E27FC236}">
                <a16:creationId xmlns:a16="http://schemas.microsoft.com/office/drawing/2014/main" id="{2AC3D444-62B9-4F05-9A97-AC4AAE5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571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20B6C3"/>
          </a:solidFill>
          <a:ln xmlns:a="http://schemas.openxmlformats.org/drawingml/2006/main" w="9525">
            <a:solidFill>
              <a:srgbClr val="20B6C3"/>
            </a:solidFill>
            <a:prstDash val="solid"/>
          </a:ln>
        </p:spPr>
      </p:sp>
      <p:sp>
        <p:nvSpPr>
          <p:cNvPr id="8" name="desktop-app-label">
            <a:extLst xmlns:a="http://schemas.openxmlformats.org/drawingml/2006/main">
              <a:ext uri="{FF2B5EF4-FFF2-40B4-BE49-F238E27FC236}">
                <a16:creationId xmlns:a16="http://schemas.microsoft.com/office/drawing/2014/main" id="{40E21265-AC58-4B8B-874B-BD927A5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2152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Escritorio</a:t>
            </a:r>
          </a:p>
        </p:txBody>
      </p:sp>
      <p:sp>
        <p:nvSpPr>
          <p:cNvPr id="9" name="desktop-app-description">
            <a:extLst xmlns:a="http://schemas.openxmlformats.org/drawingml/2006/main">
              <a:ext uri="{FF2B5EF4-FFF2-40B4-BE49-F238E27FC236}">
                <a16:creationId xmlns:a16="http://schemas.microsoft.com/office/drawing/2014/main" id="{F885F229-4464-498B-9C7F-0C1A93FA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92754"/>
                </a:solidFill>
                <a:latin typeface="Arial"/>
                <a:ea typeface="Arial"/>
                <a:cs typeface="Arial"/>
              </a:rPr>
              <a:t>Windows Forms</a:t>
            </a:r>
          </a:p>
        </p:txBody>
      </p:sp>
      <p:sp>
        <p:nvSpPr>
          <p:cNvPr id="10" name="shared-data">
            <a:extLst xmlns:a="http://schemas.openxmlformats.org/drawingml/2006/main">
              <a:ext uri="{FF2B5EF4-FFF2-40B4-BE49-F238E27FC236}">
                <a16:creationId xmlns:a16="http://schemas.microsoft.com/office/drawing/2014/main" id="{06852884-3963-45FF-B4C8-6C19EF5E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73367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F3F7FB"/>
            </a:solidFill>
            <a:prstDash val="solid"/>
          </a:ln>
        </p:spPr>
      </p:sp>
      <p:sp>
        <p:nvSpPr>
          <p:cNvPr id="11" name="shared-data-label">
            <a:extLst xmlns:a="http://schemas.openxmlformats.org/drawingml/2006/main">
              <a:ext uri="{FF2B5EF4-FFF2-40B4-BE49-F238E27FC236}">
                <a16:creationId xmlns:a16="http://schemas.microsoft.com/office/drawing/2014/main" id="{D4399794-D1EE-4B12-A6E7-5E4C95B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2314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NBU.Data</a:t>
            </a:r>
          </a:p>
        </p:txBody>
      </p:sp>
      <p:sp>
        <p:nvSpPr>
          <p:cNvPr id="12" name="shared-data-description">
            <a:extLst xmlns:a="http://schemas.openxmlformats.org/drawingml/2006/main">
              <a:ext uri="{FF2B5EF4-FFF2-40B4-BE49-F238E27FC236}">
                <a16:creationId xmlns:a16="http://schemas.microsoft.com/office/drawing/2014/main" id="{3E78C14C-5977-4649-9F68-CCFD41DE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09975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B43"/>
                </a:solidFill>
                <a:latin typeface="Arial"/>
                <a:ea typeface="Arial"/>
                <a:cs typeface="Arial"/>
              </a:rPr>
              <a:t>Entity Framework Core 8</a:t>
            </a:r>
          </a:p>
        </p:txBody>
      </p:sp>
      <p:sp>
        <p:nvSpPr>
          <p:cNvPr id="13" name="sql-server">
            <a:extLst xmlns:a="http://schemas.openxmlformats.org/drawingml/2006/main">
              <a:ext uri="{FF2B5EF4-FFF2-40B4-BE49-F238E27FC236}">
                <a16:creationId xmlns:a16="http://schemas.microsoft.com/office/drawing/2014/main" id="{1E5D90D0-9F14-409A-B1C8-4355C0C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9900"/>
            <a:ext cx="273367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92754"/>
          </a:solidFill>
          <a:ln xmlns:a="http://schemas.openxmlformats.org/drawingml/2006/main" w="9525">
            <a:solidFill>
              <a:srgbClr val="092754"/>
            </a:solidFill>
            <a:prstDash val="solid"/>
          </a:ln>
        </p:spPr>
      </p:sp>
      <p:sp>
        <p:nvSpPr>
          <p:cNvPr id="14" name="sql-server-label">
            <a:extLst xmlns:a="http://schemas.openxmlformats.org/drawingml/2006/main">
              <a:ext uri="{FF2B5EF4-FFF2-40B4-BE49-F238E27FC236}">
                <a16:creationId xmlns:a16="http://schemas.microsoft.com/office/drawing/2014/main" id="{8EDB7807-63D7-46CD-A1EB-BB4FA8F5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90875"/>
            <a:ext cx="2314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5" name="sql-server-description">
            <a:extLst xmlns:a="http://schemas.openxmlformats.org/drawingml/2006/main">
              <a:ext uri="{FF2B5EF4-FFF2-40B4-BE49-F238E27FC236}">
                <a16:creationId xmlns:a16="http://schemas.microsoft.com/office/drawing/2014/main" id="{576A3514-FC17-4D8C-86CF-7184C8B1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09975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CE8F5"/>
                </a:solidFill>
                <a:latin typeface="Arial"/>
                <a:ea typeface="Arial"/>
                <a:cs typeface="Arial"/>
              </a:rPr>
              <a:t>Base de datos común</a:t>
            </a:r>
          </a:p>
        </p:txBody>
      </p:sp>
      <p:sp>
        <p:nvSpPr>
          <p:cNvPr id="19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AA0375C4-05F0-4150-B80E-49224A26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0748A"/>
                </a:solidFill>
                <a:latin typeface="Arial"/>
                <a:ea typeface="Arial"/>
                <a:cs typeface="Arial"/>
              </a:rPr>
              <a:t>Modelo–Vista–Controlador en la web · Formularios y lógica CRUD en escritorio</a:t>
            </a:r>
          </a:p>
        </p:txBody>
      </p:sp>
    </p:spTree>
    <p:extLst>
      <p:ext uri="{BB962C8B-B14F-4D97-AF65-F5344CB8AC3E}">
        <p14:creationId xmlns:p14="http://schemas.microsoft.com/office/powerpoint/2010/main" val="211848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-4">
            <a:extLst xmlns:a="http://schemas.openxmlformats.org/drawingml/2006/main">
              <a:ext uri="{FF2B5EF4-FFF2-40B4-BE49-F238E27FC236}">
                <a16:creationId xmlns:a16="http://schemas.microsoft.com/office/drawing/2014/main" id="{3072B7AA-B7B2-44E7-9E17-6E3920AC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8A"/>
                </a:solidFill>
                <a:latin typeface="Arial"/>
                <a:ea typeface="Arial"/>
                <a:cs typeface="Arial"/>
              </a:rPr>
              <a:t>NBU   ·   PROYECTO ACADÉMICO                                      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8D9307-C5F4-48E7-A524-067B306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Cuatro módulos funcionales</a:t>
            </a:r>
          </a:p>
        </p:txBody>
      </p:sp>
      <p:sp>
        <p:nvSpPr>
          <p:cNvPr id="3" name="module-01-number">
            <a:extLst xmlns:a="http://schemas.openxmlformats.org/drawingml/2006/main">
              <a:ext uri="{FF2B5EF4-FFF2-40B4-BE49-F238E27FC236}">
                <a16:creationId xmlns:a16="http://schemas.microsoft.com/office/drawing/2014/main" id="{7D3AF7E2-162F-443B-8D87-39CAFB23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module-01-name">
            <a:extLst xmlns:a="http://schemas.openxmlformats.org/drawingml/2006/main">
              <a:ext uri="{FF2B5EF4-FFF2-40B4-BE49-F238E27FC236}">
                <a16:creationId xmlns:a16="http://schemas.microsoft.com/office/drawing/2014/main" id="{379DB9A7-4899-4D56-944C-72E5D7E3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Estudiantes</a:t>
            </a:r>
          </a:p>
        </p:txBody>
      </p:sp>
      <p:sp>
        <p:nvSpPr>
          <p:cNvPr id="5" name="module-01-description">
            <a:extLst xmlns:a="http://schemas.openxmlformats.org/drawingml/2006/main">
              <a:ext uri="{FF2B5EF4-FFF2-40B4-BE49-F238E27FC236}">
                <a16:creationId xmlns:a16="http://schemas.microsoft.com/office/drawing/2014/main" id="{405F4A1E-FB9B-41B1-AF32-BEA8DFDC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Registro y consulta de beneficiarios.</a:t>
            </a:r>
          </a:p>
        </p:txBody>
      </p:sp>
      <p:sp>
        <p:nvSpPr>
          <p:cNvPr id="6" name="module-02-number">
            <a:extLst xmlns:a="http://schemas.openxmlformats.org/drawingml/2006/main">
              <a:ext uri="{FF2B5EF4-FFF2-40B4-BE49-F238E27FC236}">
                <a16:creationId xmlns:a16="http://schemas.microsoft.com/office/drawing/2014/main" id="{2442E9DC-E846-49AF-B5E2-E184F4D1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module-02-name">
            <a:extLst xmlns:a="http://schemas.openxmlformats.org/drawingml/2006/main">
              <a:ext uri="{FF2B5EF4-FFF2-40B4-BE49-F238E27FC236}">
                <a16:creationId xmlns:a16="http://schemas.microsoft.com/office/drawing/2014/main" id="{04AAE7BF-E32E-480B-9D8D-42DBBE88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Becas y solicitudes</a:t>
            </a:r>
          </a:p>
        </p:txBody>
      </p:sp>
      <p:sp>
        <p:nvSpPr>
          <p:cNvPr id="8" name="module-02-description">
            <a:extLst xmlns:a="http://schemas.openxmlformats.org/drawingml/2006/main">
              <a:ext uri="{FF2B5EF4-FFF2-40B4-BE49-F238E27FC236}">
                <a16:creationId xmlns:a16="http://schemas.microsoft.com/office/drawing/2014/main" id="{DBDB5205-331C-46A5-A348-20D43BD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Convocatorias y revisión de solicitudes.</a:t>
            </a:r>
          </a:p>
        </p:txBody>
      </p:sp>
      <p:sp>
        <p:nvSpPr>
          <p:cNvPr id="9" name="module-03-number">
            <a:extLst xmlns:a="http://schemas.openxmlformats.org/drawingml/2006/main">
              <a:ext uri="{FF2B5EF4-FFF2-40B4-BE49-F238E27FC236}">
                <a16:creationId xmlns:a16="http://schemas.microsoft.com/office/drawing/2014/main" id="{6491F74B-6CB4-414C-9188-AC130824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module-03-name">
            <a:extLst xmlns:a="http://schemas.openxmlformats.org/drawingml/2006/main">
              <a:ext uri="{FF2B5EF4-FFF2-40B4-BE49-F238E27FC236}">
                <a16:creationId xmlns:a16="http://schemas.microsoft.com/office/drawing/2014/main" id="{46A63F3B-B528-4F77-A2D8-4661FDB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Pagos de becas</a:t>
            </a:r>
          </a:p>
        </p:txBody>
      </p:sp>
      <p:sp>
        <p:nvSpPr>
          <p:cNvPr id="11" name="module-03-description">
            <a:extLst xmlns:a="http://schemas.openxmlformats.org/drawingml/2006/main">
              <a:ext uri="{FF2B5EF4-FFF2-40B4-BE49-F238E27FC236}">
                <a16:creationId xmlns:a16="http://schemas.microsoft.com/office/drawing/2014/main" id="{8D085566-C5A7-4D1C-BC43-367D7F60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Registro e historial de depósitos realizados.</a:t>
            </a:r>
          </a:p>
        </p:txBody>
      </p:sp>
      <p:sp>
        <p:nvSpPr>
          <p:cNvPr id="12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C8B687B8-46D5-480E-A936-33CAC4C5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B7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module-04-name">
            <a:extLst xmlns:a="http://schemas.openxmlformats.org/drawingml/2006/main">
              <a:ext uri="{FF2B5EF4-FFF2-40B4-BE49-F238E27FC236}">
                <a16:creationId xmlns:a16="http://schemas.microsoft.com/office/drawing/2014/main" id="{61379B53-AD9F-47E7-B3D6-E4199BD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Noticias y eventos</a:t>
            </a:r>
          </a:p>
        </p:txBody>
      </p:sp>
      <p:sp>
        <p:nvSpPr>
          <p:cNvPr id="14" name="module-04-description">
            <a:extLst xmlns:a="http://schemas.openxmlformats.org/drawingml/2006/main">
              <a:ext uri="{FF2B5EF4-FFF2-40B4-BE49-F238E27FC236}">
                <a16:creationId xmlns:a16="http://schemas.microsoft.com/office/drawing/2014/main" id="{EFA2E015-380C-4212-A0BC-8A725D2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Publicaciones y notificaciones para estudiantes.</a:t>
            </a:r>
          </a:p>
        </p:txBody>
      </p:sp>
    </p:spTree>
    <p:extLst>
      <p:ext uri="{BB962C8B-B14F-4D97-AF65-F5344CB8AC3E}">
        <p14:creationId xmlns:p14="http://schemas.microsoft.com/office/powerpoint/2010/main" val="1543490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-5">
            <a:extLst xmlns:a="http://schemas.openxmlformats.org/drawingml/2006/main">
              <a:ext uri="{FF2B5EF4-FFF2-40B4-BE49-F238E27FC236}">
                <a16:creationId xmlns:a16="http://schemas.microsoft.com/office/drawing/2014/main" id="{64AA4D9D-D35C-4C38-A75E-96303E2A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8A"/>
                </a:solidFill>
                <a:latin typeface="Arial"/>
                <a:ea typeface="Arial"/>
                <a:cs typeface="Arial"/>
              </a:rPr>
              <a:t>NBU   ·   PROYECTO ACADÉMICO                                      05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B08459-914B-44E5-A402-CE93720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Recorrido del estudiante</a:t>
            </a:r>
          </a:p>
        </p:txBody>
      </p:sp>
      <p:sp>
        <p:nvSpPr>
          <p:cNvPr id="3" name="portal-label">
            <a:extLst xmlns:a="http://schemas.openxmlformats.org/drawingml/2006/main">
              <a:ext uri="{FF2B5EF4-FFF2-40B4-BE49-F238E27FC236}">
                <a16:creationId xmlns:a16="http://schemas.microsoft.com/office/drawing/2014/main" id="{372C0BF4-0628-4CAD-8459-61B9228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PORTAL WEB ADAPTABLE A CELULAR</a:t>
            </a:r>
          </a:p>
        </p:txBody>
      </p:sp>
      <p:sp>
        <p:nvSpPr>
          <p:cNvPr id="4" name="journey-01-number">
            <a:extLst xmlns:a="http://schemas.openxmlformats.org/drawingml/2006/main">
              <a:ext uri="{FF2B5EF4-FFF2-40B4-BE49-F238E27FC236}">
                <a16:creationId xmlns:a16="http://schemas.microsoft.com/office/drawing/2014/main" id="{A05BD4AF-CB67-43A7-B255-80BEF32A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journey-01-label">
            <a:extLst xmlns:a="http://schemas.openxmlformats.org/drawingml/2006/main">
              <a:ext uri="{FF2B5EF4-FFF2-40B4-BE49-F238E27FC236}">
                <a16:creationId xmlns:a16="http://schemas.microsoft.com/office/drawing/2014/main" id="{7977F7DB-37E8-44F0-B59B-2F64ED77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193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43"/>
                </a:solidFill>
                <a:latin typeface="Arial"/>
                <a:ea typeface="Arial"/>
                <a:cs typeface="Arial"/>
              </a:rPr>
              <a:t>Inicia sesión</a:t>
            </a:r>
          </a:p>
        </p:txBody>
      </p:sp>
      <p:sp>
        <p:nvSpPr>
          <p:cNvPr id="6" name="journey-02-number">
            <a:extLst xmlns:a="http://schemas.openxmlformats.org/drawingml/2006/main">
              <a:ext uri="{FF2B5EF4-FFF2-40B4-BE49-F238E27FC236}">
                <a16:creationId xmlns:a16="http://schemas.microsoft.com/office/drawing/2014/main" id="{D60D9187-7696-4A63-8B87-B9D844F7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journey-02-label">
            <a:extLst xmlns:a="http://schemas.openxmlformats.org/drawingml/2006/main">
              <a:ext uri="{FF2B5EF4-FFF2-40B4-BE49-F238E27FC236}">
                <a16:creationId xmlns:a16="http://schemas.microsoft.com/office/drawing/2014/main" id="{57B54DDE-6141-4CBF-9694-0BDC49AC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43"/>
                </a:solidFill>
                <a:latin typeface="Arial"/>
                <a:ea typeface="Arial"/>
                <a:cs typeface="Arial"/>
              </a:rPr>
              <a:t>Explora becas abiertas</a:t>
            </a:r>
          </a:p>
        </p:txBody>
      </p:sp>
      <p:sp>
        <p:nvSpPr>
          <p:cNvPr id="8" name="journey-03-number">
            <a:extLst xmlns:a="http://schemas.openxmlformats.org/drawingml/2006/main">
              <a:ext uri="{FF2B5EF4-FFF2-40B4-BE49-F238E27FC236}">
                <a16:creationId xmlns:a16="http://schemas.microsoft.com/office/drawing/2014/main" id="{1F34097D-F3D2-40B9-BEDA-0D47601F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journey-03-label">
            <a:extLst xmlns:a="http://schemas.openxmlformats.org/drawingml/2006/main">
              <a:ext uri="{FF2B5EF4-FFF2-40B4-BE49-F238E27FC236}">
                <a16:creationId xmlns:a16="http://schemas.microsoft.com/office/drawing/2014/main" id="{83DEC27E-AEB3-4BF1-8CDD-E71042D5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43"/>
                </a:solidFill>
                <a:latin typeface="Arial"/>
                <a:ea typeface="Arial"/>
                <a:cs typeface="Arial"/>
              </a:rPr>
              <a:t>Envía una solicitud</a:t>
            </a:r>
          </a:p>
        </p:txBody>
      </p:sp>
      <p:sp>
        <p:nvSpPr>
          <p:cNvPr id="10" name="journey-04-number">
            <a:extLst xmlns:a="http://schemas.openxmlformats.org/drawingml/2006/main">
              <a:ext uri="{FF2B5EF4-FFF2-40B4-BE49-F238E27FC236}">
                <a16:creationId xmlns:a16="http://schemas.microsoft.com/office/drawing/2014/main" id="{942EABBB-D585-44DD-844E-836ACA7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journey-04-label">
            <a:extLst xmlns:a="http://schemas.openxmlformats.org/drawingml/2006/main">
              <a:ext uri="{FF2B5EF4-FFF2-40B4-BE49-F238E27FC236}">
                <a16:creationId xmlns:a16="http://schemas.microsoft.com/office/drawing/2014/main" id="{B1DF38E0-C8B9-4FFB-AB01-90D49009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95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Consulta el resultado</a:t>
            </a:r>
          </a:p>
        </p:txBody>
      </p:sp>
      <p:sp>
        <p:nvSpPr>
          <p:cNvPr id="12" name="journey-05-number">
            <a:extLst xmlns:a="http://schemas.openxmlformats.org/drawingml/2006/main">
              <a:ext uri="{FF2B5EF4-FFF2-40B4-BE49-F238E27FC236}">
                <a16:creationId xmlns:a16="http://schemas.microsoft.com/office/drawing/2014/main" id="{F5562836-AF46-4702-88D4-AAFE40E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journey-05-label">
            <a:extLst xmlns:a="http://schemas.openxmlformats.org/drawingml/2006/main">
              <a:ext uri="{FF2B5EF4-FFF2-40B4-BE49-F238E27FC236}">
                <a16:creationId xmlns:a16="http://schemas.microsoft.com/office/drawing/2014/main" id="{6AE931C5-2499-42EF-8213-35E142F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82B43"/>
                </a:solidFill>
                <a:latin typeface="Arial"/>
                <a:ea typeface="Arial"/>
                <a:cs typeface="Arial"/>
              </a:rPr>
              <a:t>Revisa pagos y avisos</a:t>
            </a:r>
          </a:p>
        </p:txBody>
      </p:sp>
      <p:sp>
        <p:nvSpPr>
          <p:cNvPr id="14" name="journey-promise">
            <a:extLst xmlns:a="http://schemas.openxmlformats.org/drawingml/2006/main">
              <a:ext uri="{FF2B5EF4-FFF2-40B4-BE49-F238E27FC236}">
                <a16:creationId xmlns:a16="http://schemas.microsoft.com/office/drawing/2014/main" id="{7AEE5C82-BEB7-4AFE-B89C-675B595F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57475"/>
            <a:ext cx="419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Cada cuenta muestra la información de su propio estudiante.</a:t>
            </a:r>
          </a:p>
        </p:txBody>
      </p:sp>
      <p:sp>
        <p:nvSpPr>
          <p:cNvPr id="15" name="journey-detail">
            <a:extLst xmlns:a="http://schemas.openxmlformats.org/drawingml/2006/main">
              <a:ext uri="{FF2B5EF4-FFF2-40B4-BE49-F238E27FC236}">
                <a16:creationId xmlns:a16="http://schemas.microsoft.com/office/drawing/2014/main" id="{4A0948EA-DE45-4663-9346-0339A63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767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8A"/>
                </a:solidFill>
                <a:latin typeface="Arial"/>
                <a:ea typeface="Arial"/>
                <a:cs typeface="Arial"/>
              </a:rPr>
              <a:t>El portal presenta convocatorias, solicitudes, depósitos registrados, noticias y notificaciones.</a:t>
            </a:r>
          </a:p>
        </p:txBody>
      </p:sp>
    </p:spTree>
    <p:extLst>
      <p:ext uri="{BB962C8B-B14F-4D97-AF65-F5344CB8AC3E}">
        <p14:creationId xmlns:p14="http://schemas.microsoft.com/office/powerpoint/2010/main" val="1407855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-6">
            <a:extLst xmlns:a="http://schemas.openxmlformats.org/drawingml/2006/main">
              <a:ext uri="{FF2B5EF4-FFF2-40B4-BE49-F238E27FC236}">
                <a16:creationId xmlns:a16="http://schemas.microsoft.com/office/drawing/2014/main" id="{BEEE50C1-7C30-4463-972E-59C83ECF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8A"/>
                </a:solidFill>
                <a:latin typeface="Arial"/>
                <a:ea typeface="Arial"/>
                <a:cs typeface="Arial"/>
              </a:rPr>
              <a:t>NBU   ·   PROYECTO ACADÉMICO                                      06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A0C482-9E78-4A60-B749-7F65D57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Operaciones administrativas CRUD</a:t>
            </a:r>
          </a:p>
        </p:txBody>
      </p:sp>
      <p:sp>
        <p:nvSpPr>
          <p:cNvPr id="3" name="admin-intro">
            <a:extLst xmlns:a="http://schemas.openxmlformats.org/drawingml/2006/main">
              <a:ext uri="{FF2B5EF4-FFF2-40B4-BE49-F238E27FC236}">
                <a16:creationId xmlns:a16="http://schemas.microsoft.com/office/drawing/2014/main" id="{7B32F7AE-C9AE-4E43-98F3-C8EE21A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82B43"/>
                </a:solidFill>
                <a:latin typeface="Arial"/>
                <a:ea typeface="Arial"/>
                <a:cs typeface="Arial"/>
              </a:rPr>
              <a:t>El personal gestiona los módulos desde la aplicación web y Windows Forms</a:t>
            </a:r>
          </a:p>
        </p:txBody>
      </p:sp>
      <p:sp>
        <p:nvSpPr>
          <p:cNvPr id="4" name="crud-Listar-title">
            <a:extLst xmlns:a="http://schemas.openxmlformats.org/drawingml/2006/main">
              <a:ext uri="{FF2B5EF4-FFF2-40B4-BE49-F238E27FC236}">
                <a16:creationId xmlns:a16="http://schemas.microsoft.com/office/drawing/2014/main" id="{9F0F7415-B807-443B-954F-8CC7D24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Listar</a:t>
            </a:r>
          </a:p>
        </p:txBody>
      </p:sp>
      <p:sp>
        <p:nvSpPr>
          <p:cNvPr id="5" name="crud-Listar-description">
            <a:extLst xmlns:a="http://schemas.openxmlformats.org/drawingml/2006/main">
              <a:ext uri="{FF2B5EF4-FFF2-40B4-BE49-F238E27FC236}">
                <a16:creationId xmlns:a16="http://schemas.microsoft.com/office/drawing/2014/main" id="{509E30E4-3B0D-4BBE-802E-099A65E4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Consultar los registros del módulo.</a:t>
            </a:r>
          </a:p>
        </p:txBody>
      </p:sp>
      <p:sp>
        <p:nvSpPr>
          <p:cNvPr id="6" name="crud-Crear-title">
            <a:extLst xmlns:a="http://schemas.openxmlformats.org/drawingml/2006/main">
              <a:ext uri="{FF2B5EF4-FFF2-40B4-BE49-F238E27FC236}">
                <a16:creationId xmlns:a16="http://schemas.microsoft.com/office/drawing/2014/main" id="{B2DEF40D-F171-465B-A307-B153795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Crear</a:t>
            </a:r>
          </a:p>
        </p:txBody>
      </p:sp>
      <p:sp>
        <p:nvSpPr>
          <p:cNvPr id="7" name="crud-Crear-description">
            <a:extLst xmlns:a="http://schemas.openxmlformats.org/drawingml/2006/main">
              <a:ext uri="{FF2B5EF4-FFF2-40B4-BE49-F238E27FC236}">
                <a16:creationId xmlns:a16="http://schemas.microsoft.com/office/drawing/2014/main" id="{493BC757-72ED-49F1-95EC-C4F006BA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5755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Agregar estudiantes, becas o publicaciones.</a:t>
            </a:r>
          </a:p>
        </p:txBody>
      </p:sp>
      <p:sp>
        <p:nvSpPr>
          <p:cNvPr id="8" name="crud-Editar-title">
            <a:extLst xmlns:a="http://schemas.openxmlformats.org/drawingml/2006/main">
              <a:ext uri="{FF2B5EF4-FFF2-40B4-BE49-F238E27FC236}">
                <a16:creationId xmlns:a16="http://schemas.microsoft.com/office/drawing/2014/main" id="{5ACC386C-96A7-4AF0-92A4-CE565505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Editar</a:t>
            </a:r>
          </a:p>
        </p:txBody>
      </p:sp>
      <p:sp>
        <p:nvSpPr>
          <p:cNvPr id="9" name="crud-Editar-description">
            <a:extLst xmlns:a="http://schemas.openxmlformats.org/drawingml/2006/main">
              <a:ext uri="{FF2B5EF4-FFF2-40B4-BE49-F238E27FC236}">
                <a16:creationId xmlns:a16="http://schemas.microsoft.com/office/drawing/2014/main" id="{F4D51541-A002-4111-9457-F8C41CF5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Actualizar estados y datos existentes.</a:t>
            </a:r>
          </a:p>
        </p:txBody>
      </p:sp>
      <p:sp>
        <p:nvSpPr>
          <p:cNvPr id="10" name="crud-Eliminar-title">
            <a:extLst xmlns:a="http://schemas.openxmlformats.org/drawingml/2006/main">
              <a:ext uri="{FF2B5EF4-FFF2-40B4-BE49-F238E27FC236}">
                <a16:creationId xmlns:a16="http://schemas.microsoft.com/office/drawing/2014/main" id="{D7179B31-A425-48DC-9B2C-FD60E79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90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8851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851B"/>
                </a:solidFill>
                <a:latin typeface="Arial"/>
                <a:ea typeface="Arial"/>
                <a:cs typeface="Arial"/>
              </a:rPr>
              <a:t>Eliminar</a:t>
            </a:r>
          </a:p>
        </p:txBody>
      </p:sp>
      <p:sp>
        <p:nvSpPr>
          <p:cNvPr id="11" name="crud-Eliminar-description">
            <a:extLst xmlns:a="http://schemas.openxmlformats.org/drawingml/2006/main">
              <a:ext uri="{FF2B5EF4-FFF2-40B4-BE49-F238E27FC236}">
                <a16:creationId xmlns:a16="http://schemas.microsoft.com/office/drawing/2014/main" id="{53C89421-8736-4A1B-B4E0-63E865A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B43"/>
                </a:solidFill>
                <a:latin typeface="Arial"/>
                <a:ea typeface="Arial"/>
                <a:cs typeface="Arial"/>
              </a:rPr>
              <a:t>Quitar registros cuando sus relaciones lo permiten.</a:t>
            </a:r>
          </a:p>
        </p:txBody>
      </p:sp>
      <p:sp>
        <p:nvSpPr>
          <p:cNvPr id="12" name="admin-rule">
            <a:extLst xmlns:a="http://schemas.openxmlformats.org/drawingml/2006/main">
              <a:ext uri="{FF2B5EF4-FFF2-40B4-BE49-F238E27FC236}">
                <a16:creationId xmlns:a16="http://schemas.microsoft.com/office/drawing/2014/main" id="{65254263-B036-4F3F-A0C7-8E585102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52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El sistema valida los datos y protege registros relacionados.</a:t>
            </a:r>
          </a:p>
        </p:txBody>
      </p:sp>
    </p:spTree>
    <p:extLst>
      <p:ext uri="{BB962C8B-B14F-4D97-AF65-F5344CB8AC3E}">
        <p14:creationId xmlns:p14="http://schemas.microsoft.com/office/powerpoint/2010/main" val="436573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-7">
            <a:extLst xmlns:a="http://schemas.openxmlformats.org/drawingml/2006/main">
              <a:ext uri="{FF2B5EF4-FFF2-40B4-BE49-F238E27FC236}">
                <a16:creationId xmlns:a16="http://schemas.microsoft.com/office/drawing/2014/main" id="{1D7C5E5C-64BA-4DF3-B315-662083D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defPPr>
            <a:lvl1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>
                <a:solidFill>
                  <a:srgbClr val="6074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8A"/>
                </a:solidFill>
                <a:latin typeface="Arial"/>
                <a:ea typeface="Arial"/>
                <a:cs typeface="Arial"/>
              </a:rPr>
              <a:t>NBU   ·   PROYECTO ACADÉMICO                                      07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153B51-54FD-4942-B67A-C9A8E4B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Acceso seguro y pagos con alcance claro</a:t>
            </a:r>
          </a:p>
        </p:txBody>
      </p:sp>
      <p:sp>
        <p:nvSpPr>
          <p:cNvPr id="3" name="privacy-headline">
            <a:extLst xmlns:a="http://schemas.openxmlformats.org/drawingml/2006/main">
              <a:ext uri="{FF2B5EF4-FFF2-40B4-BE49-F238E27FC236}">
                <a16:creationId xmlns:a16="http://schemas.microsoft.com/office/drawing/2014/main" id="{705B731D-C3C8-4EC4-8AB5-AB8DF1B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775" b="1">
                <a:solidFill>
                  <a:srgbClr val="0927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92754"/>
                </a:solidFill>
                <a:latin typeface="Arial"/>
                <a:ea typeface="Arial"/>
                <a:cs typeface="Arial"/>
              </a:rPr>
              <a:t>Cada estudiante consulta solo su información.</a:t>
            </a:r>
          </a:p>
        </p:txBody>
      </p:sp>
      <p:sp>
        <p:nvSpPr>
          <p:cNvPr id="4" name="privacy-detail">
            <a:extLst xmlns:a="http://schemas.openxmlformats.org/drawingml/2006/main">
              <a:ext uri="{FF2B5EF4-FFF2-40B4-BE49-F238E27FC236}">
                <a16:creationId xmlns:a16="http://schemas.microsoft.com/office/drawing/2014/main" id="{DCE03077-BCB3-4330-902B-92DA68F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5334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B43"/>
                </a:solidFill>
                <a:latin typeface="Arial"/>
                <a:ea typeface="Arial"/>
                <a:cs typeface="Arial"/>
              </a:rPr>
              <a:t>Identity protege las contraseñas mediante hash. El personal requiere rol Admin; el portal filtra los datos con el estudiante ligado a la cuenta autenticada.</a:t>
            </a:r>
          </a:p>
        </p:txBody>
      </p:sp>
      <p:sp>
        <p:nvSpPr>
          <p:cNvPr id="5" name="payments-label">
            <a:extLst xmlns:a="http://schemas.openxmlformats.org/drawingml/2006/main">
              <a:ext uri="{FF2B5EF4-FFF2-40B4-BE49-F238E27FC236}">
                <a16:creationId xmlns:a16="http://schemas.microsoft.com/office/drawing/2014/main" id="{A5E5F187-725F-44D5-B8F6-9329BE18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67A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7AD"/>
                </a:solidFill>
                <a:latin typeface="Arial"/>
                <a:ea typeface="Arial"/>
                <a:cs typeface="Arial"/>
              </a:rPr>
              <a:t>Depósitos</a:t>
            </a:r>
          </a:p>
        </p:txBody>
      </p:sp>
      <p:sp>
        <p:nvSpPr>
          <p:cNvPr id="6" name="payments-text">
            <a:extLst xmlns:a="http://schemas.openxmlformats.org/drawingml/2006/main">
              <a:ext uri="{FF2B5EF4-FFF2-40B4-BE49-F238E27FC236}">
                <a16:creationId xmlns:a16="http://schemas.microsoft.com/office/drawing/2014/main" id="{6988C1CE-D932-4756-8962-A382DEA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B43"/>
                </a:solidFill>
                <a:latin typeface="Arial"/>
                <a:ea typeface="Arial"/>
                <a:cs typeface="Arial"/>
              </a:rPr>
              <a:t>El personal registra depósitos realizados fuera de NBU para que el estudiante consulte su historial.</a:t>
            </a:r>
          </a:p>
        </p:txBody>
      </p:sp>
      <p:sp>
        <p:nvSpPr>
          <p:cNvPr id="7" name="transfers-label">
            <a:extLst xmlns:a="http://schemas.openxmlformats.org/drawingml/2006/main">
              <a:ext uri="{FF2B5EF4-FFF2-40B4-BE49-F238E27FC236}">
                <a16:creationId xmlns:a16="http://schemas.microsoft.com/office/drawing/2014/main" id="{80BFD3D6-46BB-45F4-A65A-85F3BD5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B742"/>
                </a:solidFill>
                <a:latin typeface="Arial"/>
                <a:ea typeface="Arial"/>
                <a:cs typeface="Arial"/>
              </a:rPr>
              <a:t>Transferencias bancarias</a:t>
            </a:r>
          </a:p>
        </p:txBody>
      </p:sp>
      <p:sp>
        <p:nvSpPr>
          <p:cNvPr id="8" name="transfers-text">
            <a:extLst xmlns:a="http://schemas.openxmlformats.org/drawingml/2006/main">
              <a:ext uri="{FF2B5EF4-FFF2-40B4-BE49-F238E27FC236}">
                <a16:creationId xmlns:a16="http://schemas.microsoft.com/office/drawing/2014/main" id="{3E5A2AA1-3DBD-444F-B257-B99FDDBE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33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defPPr>
            <a:lvl1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B43"/>
                </a:solidFill>
                <a:latin typeface="Arial"/>
                <a:ea typeface="Arial"/>
                <a:cs typeface="Arial"/>
              </a:rPr>
              <a:t>La opción aparece deshabilitada y marcada como Próximamente. No envía, recibe ni mueve dinero.</a:t>
            </a:r>
          </a:p>
        </p:txBody>
      </p:sp>
    </p:spTree>
    <p:extLst>
      <p:ext uri="{BB962C8B-B14F-4D97-AF65-F5344CB8AC3E}">
        <p14:creationId xmlns:p14="http://schemas.microsoft.com/office/powerpoint/2010/main" val="1383557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27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nbu">
            <a:extLst xmlns:a="http://schemas.openxmlformats.org/drawingml/2006/main">
              <a:ext uri="{FF2B5EF4-FFF2-40B4-BE49-F238E27FC236}">
                <a16:creationId xmlns:a16="http://schemas.microsoft.com/office/drawing/2014/main" id="{7C9D9182-4774-4D6A-8AD8-7653F12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45"/>
          </a:bodyPr>
          <a:lstStyle xmlns:a="http://schemas.openxmlformats.org/drawingml/2006/main">
            <a:def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NBU</a:t>
            </a:r>
          </a:p>
        </p:txBody>
      </p:sp>
      <p:sp>
        <p:nvSpPr>
          <p:cNvPr id="2" name="closing-slogan">
            <a:extLst xmlns:a="http://schemas.openxmlformats.org/drawingml/2006/main">
              <a:ext uri="{FF2B5EF4-FFF2-40B4-BE49-F238E27FC236}">
                <a16:creationId xmlns:a16="http://schemas.microsoft.com/office/drawing/2014/main" id="{CB326C21-4DE9-47DA-AC30-C8042A8E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B7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B742"/>
                </a:solidFill>
                <a:latin typeface="Arial"/>
                <a:ea typeface="Arial"/>
                <a:cs typeface="Arial"/>
              </a:rPr>
              <a:t>Tu esfuerzo abre oportunidades</a:t>
            </a:r>
          </a:p>
        </p:txBody>
      </p:sp>
      <p:sp>
        <p:nvSpPr>
          <p:cNvPr id="3" name="deliverables-title">
            <a:extLst xmlns:a="http://schemas.openxmlformats.org/drawingml/2006/main">
              <a:ext uri="{FF2B5EF4-FFF2-40B4-BE49-F238E27FC236}">
                <a16:creationId xmlns:a16="http://schemas.microsoft.com/office/drawing/2014/main" id="{E0C19A33-64D0-4D75-AE04-87D8C955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Entregables</a:t>
            </a:r>
          </a:p>
        </p:txBody>
      </p:sp>
      <p:sp>
        <p:nvSpPr>
          <p:cNvPr id="4" name="deliverables-copy">
            <a:extLst xmlns:a="http://schemas.openxmlformats.org/drawingml/2006/main">
              <a:ext uri="{FF2B5EF4-FFF2-40B4-BE49-F238E27FC236}">
                <a16:creationId xmlns:a16="http://schemas.microsoft.com/office/drawing/2014/main" id="{E4E1CCA5-4B31-4717-9111-9BA629D7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CE8F5"/>
                </a:solidFill>
                <a:latin typeface="Arial"/>
                <a:ea typeface="Arial"/>
                <a:cs typeface="Arial"/>
              </a:rPr>
              <a:t>Código web y de escritorio · Script SQL Server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CE8F5"/>
                </a:solidFill>
                <a:latin typeface="Arial"/>
                <a:ea typeface="Arial"/>
                <a:cs typeface="Arial"/>
              </a:rPr>
              <a:t>Documentación técnica y manual · Ejecutable Windows</a:t>
            </a:r>
          </a:p>
        </p:txBody>
      </p:sp>
      <p:sp>
        <p:nvSpPr>
          <p:cNvPr id="5" name="team-line">
            <a:extLst xmlns:a="http://schemas.openxmlformats.org/drawingml/2006/main">
              <a:ext uri="{FF2B5EF4-FFF2-40B4-BE49-F238E27FC236}">
                <a16:creationId xmlns:a16="http://schemas.microsoft.com/office/drawing/2014/main" id="{37080075-7182-4EE4-864E-587CEDBE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B6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6C3"/>
                </a:solidFill>
                <a:latin typeface="Arial"/>
                <a:ea typeface="Arial"/>
                <a:cs typeface="Arial"/>
              </a:rPr>
              <a:t>Grupo INS-1111</a:t>
            </a:r>
          </a:p>
        </p:txBody>
      </p:sp>
      <p:sp>
        <p:nvSpPr>
          <p:cNvPr id="6" name="team-names">
            <a:extLst xmlns:a="http://schemas.openxmlformats.org/drawingml/2006/main">
              <a:ext uri="{FF2B5EF4-FFF2-40B4-BE49-F238E27FC236}">
                <a16:creationId xmlns:a16="http://schemas.microsoft.com/office/drawing/2014/main" id="{D1F00C5D-B1DF-489E-AD4A-9037DE6B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Carlos Jose Maltes Martinez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Verno Jose Chaves Lopez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Dereck Sahid Davila Duarte</a:t>
            </a:r>
          </a:p>
        </p:txBody>
      </p:sp>
      <p:sp>
        <p:nvSpPr>
          <p:cNvPr id="7" name="repo">
            <a:extLst xmlns:a="http://schemas.openxmlformats.org/drawingml/2006/main">
              <a:ext uri="{FF2B5EF4-FFF2-40B4-BE49-F238E27FC236}">
                <a16:creationId xmlns:a16="http://schemas.microsoft.com/office/drawing/2014/main" id="{F8984C6B-F3F5-4CFF-AC25-ADACB904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3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defPPr>
            <a:lvl1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1pPr>
            <a:lvl2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2pPr>
            <a:lvl3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3pPr>
            <a:lvl4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4pPr>
            <a:lvl5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5pPr>
            <a:lvl6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6pPr>
            <a:lvl7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7pPr>
            <a:lvl8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8pPr>
            <a:lvl9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>
                <a:solidFill>
                  <a:srgbClr val="C9D8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8E8"/>
                </a:solidFill>
                <a:latin typeface="Arial"/>
                <a:ea typeface="Arial"/>
                <a:cs typeface="Arial"/>
              </a:rPr>
              <a:t>github.com/maltescharlie-max/NBU</a:t>
            </a:r>
          </a:p>
        </p:txBody>
      </p:sp>
    </p:spTree>
    <p:extLst>
      <p:ext uri="{BB962C8B-B14F-4D97-AF65-F5344CB8AC3E}">
        <p14:creationId xmlns:p14="http://schemas.microsoft.com/office/powerpoint/2010/main" val="1822996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2026-10-29T01:36:21.9260000Z</dcterms:created>
  <dcterms:modified xsi:type="dcterms:W3CDTF">2026-10-29T01:36:21.9260000Z</dcterms:modified>
</coreProperties>
</file>